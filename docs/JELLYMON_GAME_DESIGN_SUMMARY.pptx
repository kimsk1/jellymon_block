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6256000" cy="9144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625559" rtl="0" fontAlgn="auto" latinLnBrk="0" hangingPunct="0">
      <a:lnSpc>
        <a:spcPct val="90000"/>
      </a:lnSpc>
      <a:spcBef>
        <a:spcPts val="300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1625559" rtl="0" fontAlgn="auto" latinLnBrk="0" hangingPunct="0">
      <a:lnSpc>
        <a:spcPct val="90000"/>
      </a:lnSpc>
      <a:spcBef>
        <a:spcPts val="300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1625559" rtl="0" fontAlgn="auto" latinLnBrk="0" hangingPunct="0">
      <a:lnSpc>
        <a:spcPct val="90000"/>
      </a:lnSpc>
      <a:spcBef>
        <a:spcPts val="300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1625559" rtl="0" fontAlgn="auto" latinLnBrk="0" hangingPunct="0">
      <a:lnSpc>
        <a:spcPct val="90000"/>
      </a:lnSpc>
      <a:spcBef>
        <a:spcPts val="300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1625559" rtl="0" fontAlgn="auto" latinLnBrk="0" hangingPunct="0">
      <a:lnSpc>
        <a:spcPct val="90000"/>
      </a:lnSpc>
      <a:spcBef>
        <a:spcPts val="300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1625559" rtl="0" fontAlgn="auto" latinLnBrk="0" hangingPunct="0">
      <a:lnSpc>
        <a:spcPct val="90000"/>
      </a:lnSpc>
      <a:spcBef>
        <a:spcPts val="300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1625559" rtl="0" fontAlgn="auto" latinLnBrk="0" hangingPunct="0">
      <a:lnSpc>
        <a:spcPct val="90000"/>
      </a:lnSpc>
      <a:spcBef>
        <a:spcPts val="300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1625559" rtl="0" fontAlgn="auto" latinLnBrk="0" hangingPunct="0">
      <a:lnSpc>
        <a:spcPct val="90000"/>
      </a:lnSpc>
      <a:spcBef>
        <a:spcPts val="300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1625559" rtl="0" fontAlgn="auto" latinLnBrk="0" hangingPunct="0">
      <a:lnSpc>
        <a:spcPct val="90000"/>
      </a:lnSpc>
      <a:spcBef>
        <a:spcPts val="300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838383"/>
              </a:solidFill>
              <a:prstDash val="solid"/>
              <a:miter lim="400000"/>
            </a:ln>
          </a:left>
          <a:right>
            <a:ln w="3175" cap="flat">
              <a:solidFill>
                <a:srgbClr val="838383"/>
              </a:solidFill>
              <a:prstDash val="solid"/>
              <a:miter lim="400000"/>
            </a:ln>
          </a:right>
          <a:top>
            <a:ln w="3175" cap="flat">
              <a:solidFill>
                <a:srgbClr val="838383"/>
              </a:solidFill>
              <a:prstDash val="solid"/>
              <a:miter lim="400000"/>
            </a:ln>
          </a:top>
          <a:bottom>
            <a:ln w="3175" cap="flat">
              <a:solidFill>
                <a:srgbClr val="838383"/>
              </a:solidFill>
              <a:prstDash val="solid"/>
              <a:miter lim="400000"/>
            </a:ln>
          </a:bottom>
          <a:insideH>
            <a:ln w="3175" cap="flat">
              <a:solidFill>
                <a:srgbClr val="838383"/>
              </a:solidFill>
              <a:prstDash val="solid"/>
              <a:miter lim="400000"/>
            </a:ln>
          </a:insideH>
          <a:insideV>
            <a:ln w="3175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4D4D4D"/>
              </a:solidFill>
              <a:prstDash val="solid"/>
              <a:miter lim="400000"/>
            </a:ln>
          </a:left>
          <a:right>
            <a:ln w="3175" cap="flat">
              <a:solidFill>
                <a:srgbClr val="808080"/>
              </a:solidFill>
              <a:prstDash val="solid"/>
              <a:miter lim="400000"/>
            </a:ln>
          </a:right>
          <a:top>
            <a:ln w="3175" cap="flat">
              <a:solidFill>
                <a:srgbClr val="808080"/>
              </a:solidFill>
              <a:prstDash val="solid"/>
              <a:miter lim="400000"/>
            </a:ln>
          </a:top>
          <a:bottom>
            <a:ln w="3175" cap="flat">
              <a:solidFill>
                <a:srgbClr val="808080"/>
              </a:solidFill>
              <a:prstDash val="solid"/>
              <a:miter lim="400000"/>
            </a:ln>
          </a:bottom>
          <a:insideH>
            <a:ln w="3175" cap="flat">
              <a:solidFill>
                <a:srgbClr val="808080"/>
              </a:solidFill>
              <a:prstDash val="solid"/>
              <a:miter lim="400000"/>
            </a:ln>
          </a:insideH>
          <a:insideV>
            <a:ln w="3175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chemeClr val="accent3"/>
              </a:solidFill>
              <a:prstDash val="solid"/>
              <a:miter lim="400000"/>
            </a:ln>
          </a:top>
          <a:bottom>
            <a:ln w="3175" cap="flat">
              <a:solidFill>
                <a:srgbClr val="4D4D4D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4D4D4D"/>
              </a:solidFill>
              <a:prstDash val="solid"/>
              <a:miter lim="400000"/>
            </a:ln>
          </a:left>
          <a:right>
            <a:ln w="3175" cap="flat">
              <a:solidFill>
                <a:srgbClr val="4D4D4D"/>
              </a:solidFill>
              <a:prstDash val="solid"/>
              <a:miter lim="400000"/>
            </a:ln>
          </a:right>
          <a:top>
            <a:ln w="3175" cap="flat">
              <a:solidFill>
                <a:srgbClr val="4D4D4D"/>
              </a:solidFill>
              <a:prstDash val="solid"/>
              <a:miter lim="400000"/>
            </a:ln>
          </a:top>
          <a:bottom>
            <a:ln w="3175" cap="flat">
              <a:solidFill>
                <a:srgbClr val="4D4D4D"/>
              </a:solidFill>
              <a:prstDash val="solid"/>
              <a:miter lim="400000"/>
            </a:ln>
          </a:bottom>
          <a:insideH>
            <a:ln w="3175" cap="flat">
              <a:solidFill>
                <a:srgbClr val="4D4D4D"/>
              </a:solidFill>
              <a:prstDash val="solid"/>
              <a:miter lim="400000"/>
            </a:ln>
          </a:insideH>
          <a:insideV>
            <a:ln w="3175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F8BA00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464646"/>
              </a:solidFill>
              <a:prstDash val="solid"/>
              <a:miter lim="400000"/>
            </a:ln>
          </a:left>
          <a:right>
            <a:ln w="3175" cap="flat">
              <a:solidFill>
                <a:srgbClr val="464646"/>
              </a:solidFill>
              <a:prstDash val="solid"/>
              <a:miter lim="400000"/>
            </a:ln>
          </a:right>
          <a:top>
            <a:ln w="3175" cap="flat">
              <a:solidFill>
                <a:srgbClr val="464646"/>
              </a:solidFill>
              <a:prstDash val="solid"/>
              <a:miter lim="400000"/>
            </a:ln>
          </a:top>
          <a:bottom>
            <a:ln w="3175" cap="flat">
              <a:solidFill>
                <a:srgbClr val="464646"/>
              </a:solidFill>
              <a:prstDash val="solid"/>
              <a:miter lim="400000"/>
            </a:ln>
          </a:bottom>
          <a:insideH>
            <a:ln w="3175" cap="flat">
              <a:solidFill>
                <a:srgbClr val="464646"/>
              </a:solidFill>
              <a:prstDash val="solid"/>
              <a:miter lim="400000"/>
            </a:ln>
          </a:insideH>
          <a:insideV>
            <a:ln w="3175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5E5E5E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C3C3C3"/>
              </a:solidFill>
              <a:prstDash val="solid"/>
              <a:miter lim="400000"/>
            </a:ln>
          </a:top>
          <a:bottom>
            <a:ln w="3175" cap="flat">
              <a:solidFill>
                <a:srgbClr val="C3C3C3"/>
              </a:solidFill>
              <a:prstDash val="solid"/>
              <a:miter lim="400000"/>
            </a:ln>
          </a:bottom>
          <a:insideH>
            <a:ln w="3175" cap="flat">
              <a:solidFill>
                <a:srgbClr val="C3C3C3"/>
              </a:solidFill>
              <a:prstDash val="solid"/>
              <a:miter lim="400000"/>
            </a:ln>
          </a:insideH>
          <a:insideV>
            <a:ln w="3175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E5E5E"/>
              </a:solidFill>
              <a:prstDash val="solid"/>
              <a:miter lim="400000"/>
            </a:ln>
          </a:left>
          <a:right>
            <a:ln w="3175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CB297B"/>
              </a:solidFill>
              <a:prstDash val="solid"/>
              <a:miter lim="400000"/>
            </a:ln>
          </a:top>
          <a:bottom>
            <a:ln w="3175" cap="flat">
              <a:solidFill>
                <a:srgbClr val="5E5E5E"/>
              </a:solidFill>
              <a:prstDash val="solid"/>
              <a:miter lim="400000"/>
            </a:ln>
          </a:bottom>
          <a:insideH>
            <a:ln w="3175" cap="flat">
              <a:solidFill>
                <a:srgbClr val="5E5E5E"/>
              </a:solidFill>
              <a:prstDash val="solid"/>
              <a:miter lim="400000"/>
            </a:ln>
          </a:insideH>
          <a:insideV>
            <a:ln w="3175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5E5E5E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6C6C6C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6C6C6C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6C6C6C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90" d="100"/>
          <a:sy n="90" d="100"/>
        </p:scale>
        <p:origin x="8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9" name="Shape 17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출처: docs/JELLYMON_FULL_GAME_DESIGN.md, §1 제품 개요. 기준일 2026-09-08. 이미지: assets/jelly_R_v2.png. 기존 게임 스크린샷의 재화·진행도는 설명용 QA 상태이며 실제 사용자 성과가 아니다.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19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2" name="Shape 19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출처: docs/JELLYMON_FULL_GAME_DESIGN.md, §1, §9~12. 기준일 2026-09-08. 이미지: tmp/designer-guide/screens/08_home_progress.png. 기존 게임 스크린샷의 재화·진행도는 설명용 QA 상태이며 실제 사용자 성과가 아니다.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5" name="Shape 20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출처: docs/JELLYMON_FULL_GAME_DESIGN.md, §2, §15. 기준일 2026-09-08. 이미지: tmp/designer-guide/screens/05_story_intro.png. 기존 게임 스크린샷의 재화·진행도는 설명용 QA 상태이며 실제 사용자 성과가 아니다.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21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18" name="Shape 21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출처: docs/JELLYMON_FULL_GAME_DESIGN.md, §4. 기준일 2026-09-08. 이미지: tmp/designer-guide/screens/37_game_normal.png. 기존 게임 스크린샷의 재화·진행도는 설명용 QA 상태이며 실제 사용자 성과가 아니다.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hape 23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1" name="Shape 23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출처: docs/JELLYMON_FULL_GAME_DESIGN.md, §4.4~4.5, §5.1. 기준일 2026-09-08. 이미지: tmp/designer-guide/screens/66_game_go.png. 기존 게임 스크린샷의 재화·진행도는 설명용 QA 상태이며 실제 사용자 성과가 아니다.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9" name="Shape 23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출처: docs/JELLYMON_FULL_GAME_DESIGN.md, §5.1. 기준일 2026-09-08. 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24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47" name="Shape 24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출처: docs/JELLYMON_FULL_GAME_DESIGN.md, §5.3~5.4. 기준일 2026-09-08. 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25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60" name="Shape 26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출처: docs/JELLYMON_FULL_GAME_DESIGN.md, §3. 기준일 2026-09-08. 이미지: tmp/designer-guide/screens/34_tutorial_drag.png. 기존 게임 스크린샷의 재화·진행도는 설명용 QA 상태이며 실제 사용자 성과가 아니다.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Shape 27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3" name="Shape 27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출처: docs/JELLYMON_FULL_GAME_DESIGN.md, §7.1~7.3. 기준일 2026-09-08. 이미지: tmp/designer-guide/screens/41_result_clear.png. 기존 게임 스크린샷의 재화·진행도는 설명용 QA 상태이며 실제 사용자 성과가 아니다.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Shape 28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86" name="Shape 28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출처: docs/JELLYMON_FULL_GAME_DESIGN.md, §7.4~7.5, §8.2. 기준일 2026-09-08. 이미지: tmp/designer-guide/screens/43_fail_continue.png. 기존 게임 스크린샷의 재화·진행도는 설명용 QA 상태이며 실제 사용자 성과가 아니다.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31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13" name="Shape 31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출처: docs/JELLYMON_FULL_GAME_DESIGN.md, §8.3. 기준일 2026-09-08. 이미지: assets/ui/boosters/time_v1.png, assets/ui/boosters/compass_v1.png, assets/ui/boosters/ice_v1.png, assets/ui/boosters/space_v1.png, assets/ui/boosters/rescue_v1.png. 기존 게임 스크린샷의 재화·진행도는 설명용 QA 상태이며 실제 사용자 성과가 아니다.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Shape 33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38" name="Shape 33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출처: docs/JELLYMON_FULL_GAME_DESIGN.md, §2.2, §9.1, §5.2. 기준일 2026-09-08. 이미지: assets/jelly_R_v5.png, assets/jelly_Y_v5.png, assets/jelly_B_v5.png, assets/jelly_G_v4.png, assets/jelly_P_v5.png, assets/jelly_O_v5.png. 기존 게임 스크린샷의 재화·진행도는 설명용 QA 상태이며 실제 사용자 성과가 아니다.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Shape 35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51" name="Shape 35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출처: docs/JELLYMON_FULL_GAME_DESIGN.md, §9.2~9.4. 기준일 2026-09-08. 이미지: tmp/designer-guide/screens/09_home_reaction.png. 기존 게임 스크린샷의 재화·진행도는 설명용 QA 상태이며 실제 사용자 성과가 아니다.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Shape 36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65" name="Shape 36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출처: docs/JELLYMON_FULL_GAME_DESIGN.md, §10, §12.2. 기준일 2026-09-08. 이미지: tmp/designer-guide/screens/21_room_edit.png, tmp/designer-guide/screens/19_album_residents.png. 기존 게임 스크린샷의 재화·진행도는 설명용 QA 상태이며 실제 사용자 성과가 아니다.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Shape 37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73" name="Shape 37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출처: docs/JELLYMON_FULL_GAME_DESIGN.md, §11.1~11.7. 기준일 2026-09-08. 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Shape 38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86" name="Shape 38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출처: docs/JELLYMON_FULL_GAME_DESIGN.md, §11.8, §12.1. 기준일 2026-09-08. 이미지: tmp/designer-guide/screens/16_lifestyle_season.png. 기존 게임 스크린샷의 재화·진행도는 설명용 QA 상태이며 실제 사용자 성과가 아니다.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Shape 39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94" name="Shape 39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출처: docs/JELLYMON_FULL_GAME_DESIGN.md, §13.1~13.2, 부록 A.10. 기준일 2026-09-08. 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Shape 40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07" name="Shape 40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출처: docs/JELLYMON_FULL_GAME_DESIGN.md, §13.3~13.5. 기준일 2026-09-08. 이미지: tmp/designer-guide/screens/42_result_reward_claimed.png. 기존 게임 스크린샷의 재화·진행도는 설명용 QA 상태이며 실제 사용자 성과가 아니다.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Shape 41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20" name="Shape 42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출처: docs/JELLYMON_FULL_GAME_DESIGN.md, §14~18. 기준일 2026-09-08. 이미지: tmp/designer-guide/screens/10_menu_settings_mail.png. 기존 게임 스크린샷의 재화·진행도는 설명용 QA 상태이며 실제 사용자 성과가 아니다.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Shape 43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32" name="Shape 43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출처: docs/JELLYMON_FULL_GAME_DESIGN.md, §18~20. 기준일 2026-09-08. 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저자 및 날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3243262" y="6795050"/>
            <a:ext cx="9764891" cy="283102"/>
          </a:xfrm>
          <a:prstGeom prst="rect">
            <a:avLst/>
          </a:prstGeom>
        </p:spPr>
        <p:txBody>
          <a:bodyPr lIns="20319" tIns="20319" rIns="20319" bIns="20319"/>
          <a:lstStyle>
            <a:lvl1pPr defTabSz="363220">
              <a:defRPr sz="1584"/>
            </a:lvl1pPr>
          </a:lstStyle>
          <a:p>
            <a:r>
              <a:t>저자 및 날짜</a:t>
            </a:r>
          </a:p>
        </p:txBody>
      </p:sp>
      <p:sp>
        <p:nvSpPr>
          <p:cNvPr id="12" name="프레젠테이션 제목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프레젠테이션 제목</a:t>
            </a:r>
          </a:p>
        </p:txBody>
      </p:sp>
      <p:sp>
        <p:nvSpPr>
          <p:cNvPr id="13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프레젠테이션 부제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아보카도와 라임"/>
          <p:cNvSpPr>
            <a:spLocks noGrp="1"/>
          </p:cNvSpPr>
          <p:nvPr>
            <p:ph type="pic" idx="21"/>
          </p:nvPr>
        </p:nvSpPr>
        <p:spPr>
          <a:xfrm>
            <a:off x="2195688" y="948266"/>
            <a:ext cx="11887202" cy="711952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프레젠테이션 제목"/>
          <p:cNvSpPr txBox="1">
            <a:spLocks noGrp="1"/>
          </p:cNvSpPr>
          <p:nvPr>
            <p:ph type="title" hasCustomPrompt="1"/>
          </p:nvPr>
        </p:nvSpPr>
        <p:spPr>
          <a:xfrm>
            <a:off x="3245555" y="4690533"/>
            <a:ext cx="9764890" cy="2065868"/>
          </a:xfrm>
          <a:prstGeom prst="rect">
            <a:avLst/>
          </a:prstGeom>
        </p:spPr>
        <p:txBody>
          <a:bodyPr/>
          <a:lstStyle/>
          <a:p>
            <a:r>
              <a:t>프레젠테이션 제목</a:t>
            </a:r>
          </a:p>
        </p:txBody>
      </p:sp>
      <p:sp>
        <p:nvSpPr>
          <p:cNvPr id="23" name="저자 및 날짜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3246084" y="2015616"/>
            <a:ext cx="9763833" cy="283103"/>
          </a:xfrm>
          <a:prstGeom prst="rect">
            <a:avLst/>
          </a:prstGeom>
        </p:spPr>
        <p:txBody>
          <a:bodyPr lIns="20319" tIns="20319" rIns="20319" bIns="20319"/>
          <a:lstStyle>
            <a:lvl1pPr defTabSz="363220">
              <a:defRPr sz="1584"/>
            </a:lvl1pPr>
          </a:lstStyle>
          <a:p>
            <a:r>
              <a:t>저자 및 날짜</a:t>
            </a:r>
          </a:p>
        </p:txBody>
      </p:sp>
      <p:sp>
        <p:nvSpPr>
          <p:cNvPr id="24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245555" y="6683960"/>
            <a:ext cx="9764890" cy="496423"/>
          </a:xfrm>
          <a:prstGeom prst="rect">
            <a:avLst/>
          </a:prstGeom>
        </p:spPr>
        <p:txBody>
          <a:bodyPr/>
          <a:lstStyle/>
          <a:p>
            <a:r>
              <a:t>프레젠테이션 부제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사진 대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연어 어묵, 샐러드, 후무스가 든 그릇"/>
          <p:cNvSpPr>
            <a:spLocks noGrp="1"/>
          </p:cNvSpPr>
          <p:nvPr>
            <p:ph type="pic" sz="half" idx="21"/>
          </p:nvPr>
        </p:nvSpPr>
        <p:spPr>
          <a:xfrm>
            <a:off x="7586133" y="1433688"/>
            <a:ext cx="5397706" cy="628226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3245555" y="2088444"/>
            <a:ext cx="4346223" cy="2614344"/>
          </a:xfrm>
          <a:prstGeom prst="rect">
            <a:avLst/>
          </a:prstGeom>
        </p:spPr>
        <p:txBody>
          <a:bodyPr/>
          <a:lstStyle>
            <a:lvl1pPr>
              <a:defRPr sz="5600" spc="-112"/>
            </a:lvl1pPr>
          </a:lstStyle>
          <a:p>
            <a:r>
              <a:t>슬라이드 제목</a:t>
            </a:r>
          </a:p>
        </p:txBody>
      </p:sp>
      <p:sp>
        <p:nvSpPr>
          <p:cNvPr id="34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245555" y="4662034"/>
            <a:ext cx="4346223" cy="2393522"/>
          </a:xfrm>
          <a:prstGeom prst="rect">
            <a:avLst/>
          </a:prstGeom>
        </p:spPr>
        <p:txBody>
          <a:bodyPr/>
          <a:lstStyle/>
          <a:p>
            <a:r>
              <a:t>슬라이드 부제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8011560" y="7287459"/>
            <a:ext cx="227326" cy="21869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3245555" y="2003777"/>
            <a:ext cx="9764890" cy="636962"/>
          </a:xfrm>
          <a:prstGeom prst="rect">
            <a:avLst/>
          </a:prstGeom>
        </p:spPr>
        <p:txBody>
          <a:bodyPr anchor="t"/>
          <a:lstStyle>
            <a:lvl1pPr>
              <a:defRPr sz="5600" spc="-112"/>
            </a:lvl1pPr>
          </a:lstStyle>
          <a:p>
            <a:r>
              <a:t>슬라이드 제목</a:t>
            </a:r>
          </a:p>
        </p:txBody>
      </p:sp>
      <p:sp>
        <p:nvSpPr>
          <p:cNvPr id="43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3245555" y="2578649"/>
            <a:ext cx="9764890" cy="415459"/>
          </a:xfrm>
          <a:prstGeom prst="rect">
            <a:avLst/>
          </a:prstGeom>
        </p:spPr>
        <p:txBody>
          <a:bodyPr lIns="20319" tIns="20319" rIns="20319" bIns="20319"/>
          <a:lstStyle>
            <a:lvl1pPr defTabSz="363220">
              <a:defRPr sz="2376"/>
            </a:lvl1pPr>
          </a:lstStyle>
          <a:p>
            <a:r>
              <a:t>슬라이드 부제</a:t>
            </a:r>
          </a:p>
        </p:txBody>
      </p:sp>
      <p:sp>
        <p:nvSpPr>
          <p:cNvPr id="44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3245555" y="3412224"/>
            <a:ext cx="9764890" cy="3669339"/>
          </a:xfrm>
          <a:prstGeom prst="rect">
            <a:avLst/>
          </a:prstGeom>
        </p:spPr>
        <p:txBody>
          <a:bodyPr/>
          <a:lstStyle>
            <a:lvl1pPr marL="4064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sz="3200" b="0"/>
            </a:lvl1pPr>
            <a:lvl2pPr marL="10160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sz="3200" b="0"/>
            </a:lvl2pPr>
            <a:lvl3pPr marL="16256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sz="3200" b="0"/>
            </a:lvl3pPr>
            <a:lvl4pPr marL="22352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sz="3200" b="0"/>
            </a:lvl4pPr>
            <a:lvl5pPr marL="28448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sz="3200" b="0"/>
            </a:lvl5pPr>
          </a:lstStyle>
          <a:p>
            <a:r>
              <a:t>슬라이드 구분점 텍스트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3245555" y="3412224"/>
            <a:ext cx="9764890" cy="3669339"/>
          </a:xfrm>
          <a:prstGeom prst="rect">
            <a:avLst/>
          </a:prstGeom>
        </p:spPr>
        <p:txBody>
          <a:bodyPr numCol="2" spcCol="488244"/>
          <a:lstStyle>
            <a:lvl1pPr marL="4064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sz="3200" b="0"/>
            </a:lvl1pPr>
            <a:lvl2pPr marL="10160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sz="3200" b="0"/>
            </a:lvl2pPr>
            <a:lvl3pPr marL="16256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sz="3200" b="0"/>
            </a:lvl3pPr>
            <a:lvl4pPr marL="22352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sz="3200" b="0"/>
            </a:lvl4pPr>
            <a:lvl5pPr marL="28448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sz="3200" b="0"/>
            </a:lvl5pPr>
          </a:lstStyle>
          <a:p>
            <a:r>
              <a:t>슬라이드 구분점 텍스트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, 구분점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3245555" y="2578649"/>
            <a:ext cx="4346223" cy="415459"/>
          </a:xfrm>
          <a:prstGeom prst="rect">
            <a:avLst/>
          </a:prstGeom>
        </p:spPr>
        <p:txBody>
          <a:bodyPr lIns="20319" tIns="20319" rIns="20319" bIns="20319"/>
          <a:lstStyle>
            <a:lvl1pPr defTabSz="363220">
              <a:defRPr sz="2376"/>
            </a:lvl1pPr>
          </a:lstStyle>
          <a:p>
            <a:r>
              <a:t>슬라이드 부제</a:t>
            </a:r>
          </a:p>
        </p:txBody>
      </p:sp>
      <p:sp>
        <p:nvSpPr>
          <p:cNvPr id="61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245555" y="3412224"/>
            <a:ext cx="4346223" cy="3669614"/>
          </a:xfrm>
          <a:prstGeom prst="rect">
            <a:avLst/>
          </a:prstGeom>
        </p:spPr>
        <p:txBody>
          <a:bodyPr/>
          <a:lstStyle>
            <a:lvl1pPr marL="4064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sz="3200" b="0"/>
            </a:lvl1pPr>
            <a:lvl2pPr marL="10160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sz="3200" b="0"/>
            </a:lvl2pPr>
            <a:lvl3pPr marL="16256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sz="3200" b="0"/>
            </a:lvl3pPr>
            <a:lvl4pPr marL="22352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sz="3200" b="0"/>
            </a:lvl4pPr>
            <a:lvl5pPr marL="28448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sz="3200" b="0"/>
            </a:lvl5pPr>
          </a:lstStyle>
          <a:p>
            <a:r>
              <a:t>슬라이드 구분점 텍스트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파슬리 버터, 구운 헤이즐넛, 파르메산 치즈를 올린 파파르델레 파스타 그릇"/>
          <p:cNvSpPr>
            <a:spLocks noGrp="1"/>
          </p:cNvSpPr>
          <p:nvPr>
            <p:ph type="pic" sz="half" idx="22"/>
          </p:nvPr>
        </p:nvSpPr>
        <p:spPr>
          <a:xfrm>
            <a:off x="8128000" y="1342993"/>
            <a:ext cx="4851944" cy="646925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3245555" y="2003777"/>
            <a:ext cx="4346223" cy="637823"/>
          </a:xfrm>
          <a:prstGeom prst="rect">
            <a:avLst/>
          </a:prstGeom>
        </p:spPr>
        <p:txBody>
          <a:bodyPr anchor="t"/>
          <a:lstStyle>
            <a:lvl1pPr>
              <a:defRPr sz="5600" spc="-112"/>
            </a:lvl1pPr>
          </a:lstStyle>
          <a:p>
            <a:r>
              <a:t>슬라이드 제목</a:t>
            </a:r>
          </a:p>
        </p:txBody>
      </p:sp>
      <p:sp>
        <p:nvSpPr>
          <p:cNvPr id="64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, 구분점 및 작은 라이브 비디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3245555" y="2578649"/>
            <a:ext cx="4346223" cy="415459"/>
          </a:xfrm>
          <a:prstGeom prst="rect">
            <a:avLst/>
          </a:prstGeom>
        </p:spPr>
        <p:txBody>
          <a:bodyPr lIns="20319" tIns="20319" rIns="20319" bIns="20319"/>
          <a:lstStyle>
            <a:lvl1pPr defTabSz="363220">
              <a:defRPr sz="2376"/>
            </a:lvl1pPr>
          </a:lstStyle>
          <a:p>
            <a:r>
              <a:t>슬라이드 부제</a:t>
            </a:r>
          </a:p>
        </p:txBody>
      </p:sp>
      <p:sp>
        <p:nvSpPr>
          <p:cNvPr id="72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245555" y="3412224"/>
            <a:ext cx="4346223" cy="3669614"/>
          </a:xfrm>
          <a:prstGeom prst="rect">
            <a:avLst/>
          </a:prstGeom>
        </p:spPr>
        <p:txBody>
          <a:bodyPr/>
          <a:lstStyle>
            <a:lvl1pPr marL="4064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sz="3200" b="0"/>
            </a:lvl1pPr>
            <a:lvl2pPr marL="10160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sz="3200" b="0"/>
            </a:lvl2pPr>
            <a:lvl3pPr marL="16256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sz="3200" b="0"/>
            </a:lvl3pPr>
            <a:lvl4pPr marL="22352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sz="3200" b="0"/>
            </a:lvl4pPr>
            <a:lvl5pPr marL="28448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sz="3200" b="0"/>
            </a:lvl5pPr>
          </a:lstStyle>
          <a:p>
            <a:r>
              <a:t>슬라이드 구분점 텍스트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3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3245555" y="2003777"/>
            <a:ext cx="4346223" cy="637823"/>
          </a:xfrm>
          <a:prstGeom prst="rect">
            <a:avLst/>
          </a:prstGeom>
        </p:spPr>
        <p:txBody>
          <a:bodyPr anchor="t"/>
          <a:lstStyle>
            <a:lvl1pPr>
              <a:defRPr sz="5600" spc="-112"/>
            </a:lvl1pPr>
          </a:lstStyle>
          <a:p>
            <a:r>
              <a:t>슬라이드 제목</a:t>
            </a:r>
          </a:p>
        </p:txBody>
      </p:sp>
      <p:sp>
        <p:nvSpPr>
          <p:cNvPr id="74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, 구분점 및 큰 라이브 비디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3245555" y="2578649"/>
            <a:ext cx="4346223" cy="415459"/>
          </a:xfrm>
          <a:prstGeom prst="rect">
            <a:avLst/>
          </a:prstGeom>
        </p:spPr>
        <p:txBody>
          <a:bodyPr lIns="20319" tIns="20319" rIns="20319" bIns="20319"/>
          <a:lstStyle>
            <a:lvl1pPr defTabSz="363220">
              <a:defRPr sz="2376"/>
            </a:lvl1pPr>
          </a:lstStyle>
          <a:p>
            <a:r>
              <a:t>슬라이드 부제</a:t>
            </a:r>
          </a:p>
        </p:txBody>
      </p:sp>
      <p:sp>
        <p:nvSpPr>
          <p:cNvPr id="82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245555" y="3412224"/>
            <a:ext cx="4346223" cy="3669614"/>
          </a:xfrm>
          <a:prstGeom prst="rect">
            <a:avLst/>
          </a:prstGeom>
        </p:spPr>
        <p:txBody>
          <a:bodyPr/>
          <a:lstStyle>
            <a:lvl1pPr marL="4064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sz="3200" b="0"/>
            </a:lvl1pPr>
            <a:lvl2pPr marL="10160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sz="3200" b="0"/>
            </a:lvl2pPr>
            <a:lvl3pPr marL="16256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sz="3200" b="0"/>
            </a:lvl3pPr>
            <a:lvl4pPr marL="22352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sz="3200" b="0"/>
            </a:lvl4pPr>
            <a:lvl5pPr marL="28448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sz="3200" b="0"/>
            </a:lvl5pPr>
          </a:lstStyle>
          <a:p>
            <a:r>
              <a:t>슬라이드 구분점 텍스트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3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3245555" y="2003777"/>
            <a:ext cx="4346223" cy="637823"/>
          </a:xfrm>
          <a:prstGeom prst="rect">
            <a:avLst/>
          </a:prstGeom>
        </p:spPr>
        <p:txBody>
          <a:bodyPr anchor="t"/>
          <a:lstStyle>
            <a:lvl1pPr>
              <a:defRPr sz="5600" spc="-112"/>
            </a:lvl1pPr>
          </a:lstStyle>
          <a:p>
            <a:r>
              <a:t>슬라이드 제목</a:t>
            </a:r>
          </a:p>
        </p:txBody>
      </p:sp>
      <p:sp>
        <p:nvSpPr>
          <p:cNvPr id="84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섹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섹션 제목"/>
          <p:cNvSpPr txBox="1">
            <a:spLocks noGrp="1"/>
          </p:cNvSpPr>
          <p:nvPr>
            <p:ph type="title" hasCustomPrompt="1"/>
          </p:nvPr>
        </p:nvSpPr>
        <p:spPr>
          <a:xfrm>
            <a:off x="3245553" y="3539066"/>
            <a:ext cx="9764892" cy="2065868"/>
          </a:xfrm>
          <a:prstGeom prst="rect">
            <a:avLst/>
          </a:prstGeom>
        </p:spPr>
        <p:txBody>
          <a:bodyPr anchor="ctr"/>
          <a:lstStyle>
            <a:lvl1pPr>
              <a:defRPr b="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섹션 제목</a:t>
            </a:r>
          </a:p>
        </p:txBody>
      </p:sp>
      <p:sp>
        <p:nvSpPr>
          <p:cNvPr id="92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8011560" y="7287459"/>
            <a:ext cx="227326" cy="21869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전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3245555" y="2003777"/>
            <a:ext cx="9764890" cy="637756"/>
          </a:xfrm>
          <a:prstGeom prst="rect">
            <a:avLst/>
          </a:prstGeom>
        </p:spPr>
        <p:txBody>
          <a:bodyPr anchor="t"/>
          <a:lstStyle>
            <a:lvl1pPr>
              <a:defRPr sz="5600" spc="-112"/>
            </a:lvl1pPr>
          </a:lstStyle>
          <a:p>
            <a:r>
              <a:t>슬라이드 제목</a:t>
            </a:r>
          </a:p>
        </p:txBody>
      </p:sp>
      <p:sp>
        <p:nvSpPr>
          <p:cNvPr id="100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3245555" y="2578649"/>
            <a:ext cx="9764890" cy="415459"/>
          </a:xfrm>
          <a:prstGeom prst="rect">
            <a:avLst/>
          </a:prstGeom>
        </p:spPr>
        <p:txBody>
          <a:bodyPr lIns="20319" tIns="20319" rIns="20319" bIns="20319"/>
          <a:lstStyle>
            <a:lvl1pPr defTabSz="363220">
              <a:defRPr sz="2376"/>
            </a:lvl1pPr>
          </a:lstStyle>
          <a:p>
            <a:r>
              <a:t>슬라이드 부제</a:t>
            </a:r>
          </a:p>
        </p:txBody>
      </p:sp>
      <p:sp>
        <p:nvSpPr>
          <p:cNvPr id="101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의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의제 제목"/>
          <p:cNvSpPr txBox="1">
            <a:spLocks noGrp="1"/>
          </p:cNvSpPr>
          <p:nvPr>
            <p:ph type="title" hasCustomPrompt="1"/>
          </p:nvPr>
        </p:nvSpPr>
        <p:spPr>
          <a:xfrm>
            <a:off x="3245555" y="2003777"/>
            <a:ext cx="9764890" cy="637823"/>
          </a:xfrm>
          <a:prstGeom prst="rect">
            <a:avLst/>
          </a:prstGeom>
        </p:spPr>
        <p:txBody>
          <a:bodyPr anchor="t"/>
          <a:lstStyle>
            <a:lvl1pPr>
              <a:defRPr sz="5600" spc="-112"/>
            </a:lvl1pPr>
          </a:lstStyle>
          <a:p>
            <a:r>
              <a:t>의제 제목</a:t>
            </a:r>
          </a:p>
        </p:txBody>
      </p:sp>
      <p:sp>
        <p:nvSpPr>
          <p:cNvPr id="109" name="의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3245555" y="2578649"/>
            <a:ext cx="9764890" cy="415459"/>
          </a:xfrm>
          <a:prstGeom prst="rect">
            <a:avLst/>
          </a:prstGeom>
        </p:spPr>
        <p:txBody>
          <a:bodyPr lIns="20319" tIns="20319" rIns="20319" bIns="20319"/>
          <a:lstStyle>
            <a:lvl1pPr defTabSz="363220">
              <a:defRPr sz="2376"/>
            </a:lvl1pPr>
          </a:lstStyle>
          <a:p>
            <a:r>
              <a:t>의제 부제</a:t>
            </a:r>
          </a:p>
        </p:txBody>
      </p:sp>
      <p:sp>
        <p:nvSpPr>
          <p:cNvPr id="110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3245555" y="3412224"/>
            <a:ext cx="9764890" cy="3669339"/>
          </a:xfrm>
          <a:prstGeom prst="rect">
            <a:avLst/>
          </a:prstGeom>
        </p:spPr>
        <p:txBody>
          <a:bodyPr/>
          <a:lstStyle>
            <a:lvl1pPr>
              <a:spcBef>
                <a:spcPts val="1200"/>
              </a:spcBef>
              <a:defRPr b="0" spc="-36"/>
            </a:lvl1pPr>
            <a:lvl2pPr>
              <a:spcBef>
                <a:spcPts val="1200"/>
              </a:spcBef>
              <a:defRPr b="0" spc="-36"/>
            </a:lvl2pPr>
            <a:lvl3pPr>
              <a:spcBef>
                <a:spcPts val="1200"/>
              </a:spcBef>
              <a:defRPr b="0" spc="-36"/>
            </a:lvl3pPr>
            <a:lvl4pPr>
              <a:spcBef>
                <a:spcPts val="1200"/>
              </a:spcBef>
              <a:defRPr b="0" spc="-36"/>
            </a:lvl4pPr>
            <a:lvl5pPr>
              <a:spcBef>
                <a:spcPts val="1200"/>
              </a:spcBef>
              <a:defRPr b="0" spc="-36"/>
            </a:lvl5pPr>
          </a:lstStyle>
          <a:p>
            <a:r>
              <a:t>의제 주제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내역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245555" y="3711041"/>
            <a:ext cx="9764890" cy="1721918"/>
          </a:xfrm>
          <a:prstGeom prst="rect">
            <a:avLst/>
          </a:prstGeom>
        </p:spPr>
        <p:txBody>
          <a:bodyPr anchor="ctr"/>
          <a:lstStyle>
            <a:lvl1pPr algn="ctr" defTabSz="1625559">
              <a:lnSpc>
                <a:spcPct val="80000"/>
              </a:lnSpc>
              <a:defRPr sz="7600" b="0" spc="-15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algn="ctr" defTabSz="1625559">
              <a:lnSpc>
                <a:spcPct val="80000"/>
              </a:lnSpc>
              <a:defRPr sz="7600" b="0" spc="-15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algn="ctr" defTabSz="1625559">
              <a:lnSpc>
                <a:spcPct val="80000"/>
              </a:lnSpc>
              <a:defRPr sz="7600" b="0" spc="-15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algn="ctr" defTabSz="1625559">
              <a:lnSpc>
                <a:spcPct val="80000"/>
              </a:lnSpc>
              <a:defRPr sz="7600" b="0" spc="-15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algn="ctr" defTabSz="1625559">
              <a:lnSpc>
                <a:spcPct val="80000"/>
              </a:lnSpc>
              <a:defRPr sz="7600" b="0" spc="-15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내역서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중요한 사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3245555" y="2002189"/>
            <a:ext cx="9764890" cy="3218483"/>
          </a:xfrm>
          <a:prstGeom prst="rect">
            <a:avLst/>
          </a:prstGeom>
        </p:spPr>
        <p:txBody>
          <a:bodyPr anchor="b"/>
          <a:lstStyle>
            <a:lvl1pPr algn="ctr" defTabSz="1625559">
              <a:lnSpc>
                <a:spcPct val="80000"/>
              </a:lnSpc>
              <a:defRPr sz="16600" spc="-166"/>
            </a:lvl1pPr>
            <a:lvl2pPr algn="ctr" defTabSz="1625559">
              <a:lnSpc>
                <a:spcPct val="80000"/>
              </a:lnSpc>
              <a:defRPr sz="16600" spc="-166"/>
            </a:lvl2pPr>
            <a:lvl3pPr algn="ctr" defTabSz="1625559">
              <a:lnSpc>
                <a:spcPct val="80000"/>
              </a:lnSpc>
              <a:defRPr sz="16600" spc="-166"/>
            </a:lvl3pPr>
            <a:lvl4pPr algn="ctr" defTabSz="1625559">
              <a:lnSpc>
                <a:spcPct val="80000"/>
              </a:lnSpc>
              <a:defRPr sz="16600" spc="-166"/>
            </a:lvl4pPr>
            <a:lvl5pPr algn="ctr" defTabSz="1625559">
              <a:lnSpc>
                <a:spcPct val="80000"/>
              </a:lnSpc>
              <a:defRPr sz="16600" spc="-166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7" name="사실 정보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3245555" y="5196080"/>
            <a:ext cx="9764890" cy="415458"/>
          </a:xfrm>
          <a:prstGeom prst="rect">
            <a:avLst/>
          </a:prstGeom>
        </p:spPr>
        <p:txBody>
          <a:bodyPr lIns="20319" tIns="20319" rIns="20319" bIns="20319"/>
          <a:lstStyle>
            <a:lvl1pPr algn="ctr" defTabSz="363220">
              <a:defRPr sz="2376"/>
            </a:lvl1pPr>
          </a:lstStyle>
          <a:p>
            <a:r>
              <a:t>사실 정보</a:t>
            </a:r>
          </a:p>
        </p:txBody>
      </p:sp>
      <p:sp>
        <p:nvSpPr>
          <p:cNvPr id="128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인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속성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3789344" y="6268646"/>
            <a:ext cx="8977802" cy="283102"/>
          </a:xfrm>
          <a:prstGeom prst="rect">
            <a:avLst/>
          </a:prstGeom>
        </p:spPr>
        <p:txBody>
          <a:bodyPr lIns="20319" tIns="20319" rIns="20319" bIns="20319"/>
          <a:lstStyle>
            <a:lvl1pPr defTabSz="368723">
              <a:defRPr sz="1608"/>
            </a:lvl1pPr>
          </a:lstStyle>
          <a:p>
            <a:r>
              <a:t>속성</a:t>
            </a:r>
          </a:p>
        </p:txBody>
      </p:sp>
      <p:sp>
        <p:nvSpPr>
          <p:cNvPr id="136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488854" y="3719493"/>
            <a:ext cx="9278292" cy="1705014"/>
          </a:xfrm>
          <a:prstGeom prst="rect">
            <a:avLst/>
          </a:prstGeom>
        </p:spPr>
        <p:txBody>
          <a:bodyPr/>
          <a:lstStyle>
            <a:lvl1pPr marL="425948" indent="-313266" defTabSz="1625559">
              <a:lnSpc>
                <a:spcPct val="90000"/>
              </a:lnSpc>
              <a:defRPr sz="5600" b="0" spc="-11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425948" indent="143933" defTabSz="1625559">
              <a:lnSpc>
                <a:spcPct val="90000"/>
              </a:lnSpc>
              <a:defRPr sz="5600" b="0" spc="-11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425948" indent="601133" defTabSz="1625559">
              <a:lnSpc>
                <a:spcPct val="90000"/>
              </a:lnSpc>
              <a:defRPr sz="5600" b="0" spc="-11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425948" indent="1058333" defTabSz="1625559">
              <a:lnSpc>
                <a:spcPct val="90000"/>
              </a:lnSpc>
              <a:defRPr sz="5600" b="0" spc="-11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425948" indent="1515533" defTabSz="1625559">
              <a:lnSpc>
                <a:spcPct val="90000"/>
              </a:lnSpc>
              <a:defRPr sz="5600" b="0" spc="-11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“멋진 인용구”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진 - 3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볶음밥과 삶은 계란을 넣은 샐러드 그릇과 젓가락"/>
          <p:cNvSpPr>
            <a:spLocks noGrp="1"/>
          </p:cNvSpPr>
          <p:nvPr>
            <p:ph type="pic" sz="quarter" idx="21"/>
          </p:nvPr>
        </p:nvSpPr>
        <p:spPr>
          <a:xfrm>
            <a:off x="9714088" y="1975555"/>
            <a:ext cx="3306268" cy="264430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연어 어묵, 샐러드, 후무스가 든 그릇 "/>
          <p:cNvSpPr>
            <a:spLocks noGrp="1"/>
          </p:cNvSpPr>
          <p:nvPr>
            <p:ph type="pic" sz="quarter" idx="22"/>
          </p:nvPr>
        </p:nvSpPr>
        <p:spPr>
          <a:xfrm>
            <a:off x="8709377" y="3292122"/>
            <a:ext cx="4639735" cy="54000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파슬리 버터, 구운 헤이즐넛, 파르메산 치즈를 올린 파파르델레 파스타 그릇"/>
          <p:cNvSpPr>
            <a:spLocks noGrp="1"/>
          </p:cNvSpPr>
          <p:nvPr>
            <p:ph type="pic" sz="half" idx="23"/>
          </p:nvPr>
        </p:nvSpPr>
        <p:spPr>
          <a:xfrm>
            <a:off x="2647244" y="1744133"/>
            <a:ext cx="7382934" cy="55372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볶음밥과 삶은 계란을 넣은 샐러드 그릇과 젓가락"/>
          <p:cNvSpPr>
            <a:spLocks noGrp="1"/>
          </p:cNvSpPr>
          <p:nvPr>
            <p:ph type="pic" idx="21"/>
          </p:nvPr>
        </p:nvSpPr>
        <p:spPr>
          <a:xfrm>
            <a:off x="2116666" y="-931334"/>
            <a:ext cx="12022668" cy="961813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빈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프레젠테이션 제목"/>
          <p:cNvSpPr txBox="1">
            <a:spLocks noGrp="1"/>
          </p:cNvSpPr>
          <p:nvPr>
            <p:ph type="title" hasCustomPrompt="1"/>
          </p:nvPr>
        </p:nvSpPr>
        <p:spPr>
          <a:xfrm>
            <a:off x="3245553" y="2668440"/>
            <a:ext cx="9764892" cy="206586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b">
            <a:normAutofit/>
          </a:bodyPr>
          <a:lstStyle/>
          <a:p>
            <a:r>
              <a:t>프레젠테이션 제목</a:t>
            </a:r>
          </a:p>
        </p:txBody>
      </p:sp>
      <p:sp>
        <p:nvSpPr>
          <p:cNvPr id="3" name="본문 첫 번째 줄…"/>
          <p:cNvSpPr txBox="1">
            <a:spLocks noGrp="1"/>
          </p:cNvSpPr>
          <p:nvPr>
            <p:ph type="body" idx="1" hasCustomPrompt="1"/>
          </p:nvPr>
        </p:nvSpPr>
        <p:spPr>
          <a:xfrm>
            <a:off x="3243263" y="4734307"/>
            <a:ext cx="9764890" cy="84666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>
            <a:normAutofit/>
          </a:bodyPr>
          <a:lstStyle/>
          <a:p>
            <a:r>
              <a:t>프레젠테이션 부제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8011560" y="7285577"/>
            <a:ext cx="227326" cy="218690"/>
          </a:xfrm>
          <a:prstGeom prst="rect">
            <a:avLst/>
          </a:prstGeom>
          <a:ln w="3175">
            <a:miter lim="400000"/>
          </a:ln>
        </p:spPr>
        <p:txBody>
          <a:bodyPr wrap="none" lIns="22577" tIns="22577" rIns="22577" bIns="22577" anchor="b">
            <a:spAutoFit/>
          </a:bodyPr>
          <a:lstStyle>
            <a:lvl1pPr algn="ctr" defTabSz="389466">
              <a:lnSpc>
                <a:spcPct val="100000"/>
              </a:lnSpc>
              <a:spcBef>
                <a:spcPts val="0"/>
              </a:spcBef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ransition spd="med"/>
  <p:txStyles>
    <p:titleStyle>
      <a:lvl1pPr marL="0" marR="0" indent="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600" b="1" i="0" u="none" strike="noStrike" cap="none" spc="-15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600" b="1" i="0" u="none" strike="noStrike" cap="none" spc="-15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600" b="1" i="0" u="none" strike="noStrike" cap="none" spc="-15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600" b="1" i="0" u="none" strike="noStrike" cap="none" spc="-15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600" b="1" i="0" u="none" strike="noStrike" cap="none" spc="-15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600" b="1" i="0" u="none" strike="noStrike" cap="none" spc="-15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600" b="1" i="0" u="none" strike="noStrike" cap="none" spc="-15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600" b="1" i="0" u="none" strike="noStrike" cap="none" spc="-15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600" b="1" i="0" u="none" strike="noStrike" cap="none" spc="-15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0" marR="0" indent="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저자 및 날짜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By Sam</a:t>
            </a:r>
            <a:endParaRPr dirty="0"/>
          </a:p>
        </p:txBody>
      </p:sp>
      <p:sp>
        <p:nvSpPr>
          <p:cNvPr id="172" name="젤리몬!"/>
          <p:cNvSpPr txBox="1"/>
          <p:nvPr/>
        </p:nvSpPr>
        <p:spPr>
          <a:xfrm>
            <a:off x="889000" y="1270000"/>
            <a:ext cx="14351000" cy="11119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70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젤리몬!</a:t>
            </a:r>
          </a:p>
        </p:txBody>
      </p:sp>
      <p:sp>
        <p:nvSpPr>
          <p:cNvPr id="173" name="01"/>
          <p:cNvSpPr txBox="1"/>
          <p:nvPr/>
        </p:nvSpPr>
        <p:spPr>
          <a:xfrm>
            <a:off x="15367000" y="8610600"/>
            <a:ext cx="571500" cy="2864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500">
                <a:solidFill>
                  <a:srgbClr val="888393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01</a:t>
            </a:r>
          </a:p>
        </p:txBody>
      </p:sp>
      <p:sp>
        <p:nvSpPr>
          <p:cNvPr id="174" name="전체 게임 기획 요약"/>
          <p:cNvSpPr txBox="1"/>
          <p:nvPr/>
        </p:nvSpPr>
        <p:spPr>
          <a:xfrm>
            <a:off x="889000" y="2921000"/>
            <a:ext cx="9652000" cy="8198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51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전체 게임 기획 요약</a:t>
            </a:r>
          </a:p>
        </p:txBody>
      </p:sp>
      <p:sp>
        <p:nvSpPr>
          <p:cNvPr id="175" name="구조 퍼즐과 함께 살아가는 젤리 아지트"/>
          <p:cNvSpPr txBox="1"/>
          <p:nvPr/>
        </p:nvSpPr>
        <p:spPr>
          <a:xfrm>
            <a:off x="889000" y="4254500"/>
            <a:ext cx="9144000" cy="489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9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구조 퍼즐과 함께 살아가는 젤리 아지트</a:t>
            </a:r>
          </a:p>
        </p:txBody>
      </p:sp>
      <p:sp>
        <p:nvSpPr>
          <p:cNvPr id="176" name="현재 구현 기준  2026.09.08"/>
          <p:cNvSpPr txBox="1"/>
          <p:nvPr/>
        </p:nvSpPr>
        <p:spPr>
          <a:xfrm>
            <a:off x="889000" y="7531100"/>
            <a:ext cx="8890000" cy="3880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200">
                <a:solidFill>
                  <a:srgbClr val="888393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현재 구현 기준  2026.09.08</a:t>
            </a:r>
          </a:p>
        </p:txBody>
      </p:sp>
      <p:pic>
        <p:nvPicPr>
          <p:cNvPr id="177" name="jelly_R_v2.png" descr="jelly_R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2641600"/>
            <a:ext cx="3810000" cy="3810000"/>
          </a:xfrm>
          <a:prstGeom prst="rect">
            <a:avLst/>
          </a:prstGeom>
          <a:ln w="3175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게임 개요와 반복 플레이"/>
          <p:cNvSpPr txBox="1"/>
          <p:nvPr/>
        </p:nvSpPr>
        <p:spPr>
          <a:xfrm>
            <a:off x="889000" y="698499"/>
            <a:ext cx="14351001" cy="69285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42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게임 개요와 반복 플레이</a:t>
            </a:r>
          </a:p>
        </p:txBody>
      </p:sp>
      <p:sp>
        <p:nvSpPr>
          <p:cNvPr id="183" name="02"/>
          <p:cNvSpPr txBox="1"/>
          <p:nvPr/>
        </p:nvSpPr>
        <p:spPr>
          <a:xfrm>
            <a:off x="15367000" y="8610600"/>
            <a:ext cx="571500" cy="2864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500">
                <a:solidFill>
                  <a:srgbClr val="888393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02</a:t>
            </a:r>
          </a:p>
        </p:txBody>
      </p:sp>
      <p:pic>
        <p:nvPicPr>
          <p:cNvPr id="184" name="08_home_progress.png" descr="08_home_prog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904999"/>
            <a:ext cx="3621882" cy="6438901"/>
          </a:xfrm>
          <a:prstGeom prst="rect">
            <a:avLst/>
          </a:prstGeom>
          <a:ln w="3175">
            <a:miter lim="400000"/>
          </a:ln>
        </p:spPr>
      </p:pic>
      <p:sp>
        <p:nvSpPr>
          <p:cNvPr id="185" name="색과 경로를 읽는 구조 퍼즐"/>
          <p:cNvSpPr txBox="1"/>
          <p:nvPr/>
        </p:nvSpPr>
        <p:spPr>
          <a:xfrm>
            <a:off x="5143500" y="2032000"/>
            <a:ext cx="9969501" cy="489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9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색과 경로를 읽는 구조 퍼즐</a:t>
            </a:r>
          </a:p>
        </p:txBody>
      </p:sp>
      <p:sp>
        <p:nvSpPr>
          <p:cNvPr id="186" name="마음 블록을 드래그해 같은 색 젤리를 담고,…"/>
          <p:cNvSpPr txBox="1"/>
          <p:nvPr/>
        </p:nvSpPr>
        <p:spPr>
          <a:xfrm>
            <a:off x="5143500" y="2667000"/>
            <a:ext cx="9969500" cy="1174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마음 블록을 드래그해 같은 색 젤리를 담고,</a:t>
            </a:r>
          </a:p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막힌 길을 풀어 전원 구조한다.</a:t>
            </a:r>
          </a:p>
        </p:txBody>
      </p:sp>
      <p:sp>
        <p:nvSpPr>
          <p:cNvPr id="187" name="구조의 성취가 아지트에 남는다"/>
          <p:cNvSpPr txBox="1"/>
          <p:nvPr/>
        </p:nvSpPr>
        <p:spPr>
          <a:xfrm>
            <a:off x="5143500" y="4000500"/>
            <a:ext cx="9969501" cy="489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9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구조의 성취가 아지트에 남는다</a:t>
            </a:r>
          </a:p>
        </p:txBody>
      </p:sp>
      <p:sp>
        <p:nvSpPr>
          <p:cNvPr id="188" name="별을 모아 대표가 성장하고 주민과 가구를 얻는다.…"/>
          <p:cNvSpPr txBox="1"/>
          <p:nvPr/>
        </p:nvSpPr>
        <p:spPr>
          <a:xfrm>
            <a:off x="5143500" y="4635500"/>
            <a:ext cx="9969500" cy="1174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별을 모아 대표가 성장하고 주민과 가구를 얻는다.</a:t>
            </a:r>
          </a:p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교감과 꾸미기는 다음 모험의 동기가 된다.</a:t>
            </a:r>
          </a:p>
        </p:txBody>
      </p:sp>
      <p:sp>
        <p:nvSpPr>
          <p:cNvPr id="189" name="현재 콘텐츠 규모"/>
          <p:cNvSpPr txBox="1"/>
          <p:nvPr/>
        </p:nvSpPr>
        <p:spPr>
          <a:xfrm>
            <a:off x="5143500" y="5969000"/>
            <a:ext cx="9969501" cy="489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9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현재 콘텐츠 규모</a:t>
            </a:r>
          </a:p>
        </p:txBody>
      </p:sp>
      <p:sp>
        <p:nvSpPr>
          <p:cNvPr id="190" name="대표 주민 6명, 성장 13단계, 가구 50종.…"/>
          <p:cNvSpPr txBox="1"/>
          <p:nvPr/>
        </p:nvSpPr>
        <p:spPr>
          <a:xfrm>
            <a:off x="5143500" y="6604000"/>
            <a:ext cx="9969500" cy="1174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대표 주민 6명, 성장 13단계, 가구 50종.</a:t>
            </a:r>
          </a:p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부스터 5종과 일일·주간·시즌 콘텐츠를 제공한다.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세계관과 이야기"/>
          <p:cNvSpPr txBox="1"/>
          <p:nvPr/>
        </p:nvSpPr>
        <p:spPr>
          <a:xfrm>
            <a:off x="888999" y="698499"/>
            <a:ext cx="14351001" cy="69285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42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세계관과 이야기</a:t>
            </a:r>
          </a:p>
        </p:txBody>
      </p:sp>
      <p:sp>
        <p:nvSpPr>
          <p:cNvPr id="196" name="03"/>
          <p:cNvSpPr txBox="1"/>
          <p:nvPr/>
        </p:nvSpPr>
        <p:spPr>
          <a:xfrm>
            <a:off x="15367000" y="8610600"/>
            <a:ext cx="571500" cy="2864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500">
                <a:solidFill>
                  <a:srgbClr val="888393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03</a:t>
            </a:r>
          </a:p>
        </p:txBody>
      </p:sp>
      <p:pic>
        <p:nvPicPr>
          <p:cNvPr id="197" name="05_story_intro.png" descr="05_story_int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904999"/>
            <a:ext cx="3621882" cy="6438901"/>
          </a:xfrm>
          <a:prstGeom prst="rect">
            <a:avLst/>
          </a:prstGeom>
          <a:ln w="3175">
            <a:miter lim="400000"/>
          </a:ln>
        </p:spPr>
      </p:pic>
      <p:sp>
        <p:nvSpPr>
          <p:cNvPr id="198" name="검은 시럽과 뒤엉킨 마음"/>
          <p:cNvSpPr txBox="1"/>
          <p:nvPr/>
        </p:nvSpPr>
        <p:spPr>
          <a:xfrm>
            <a:off x="5143500" y="2032000"/>
            <a:ext cx="9969501" cy="489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9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검은 시럽과 뒤엉킨 마음</a:t>
            </a:r>
          </a:p>
        </p:txBody>
      </p:sp>
      <p:sp>
        <p:nvSpPr>
          <p:cNvPr id="199" name="외로움과 불안 때문에 난폭해진 젤리몬을…"/>
          <p:cNvSpPr txBox="1"/>
          <p:nvPr/>
        </p:nvSpPr>
        <p:spPr>
          <a:xfrm>
            <a:off x="5143500" y="2667000"/>
            <a:ext cx="9969500" cy="1174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외로움과 불안 때문에 난폭해진 젤리몬을</a:t>
            </a:r>
          </a:p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다치지 않게 구해 친구로 되돌린다.</a:t>
            </a:r>
          </a:p>
        </p:txBody>
      </p:sp>
      <p:sp>
        <p:nvSpPr>
          <p:cNvPr id="200" name="마음 블록과 순화 게이트"/>
          <p:cNvSpPr txBox="1"/>
          <p:nvPr/>
        </p:nvSpPr>
        <p:spPr>
          <a:xfrm>
            <a:off x="5143500" y="4000500"/>
            <a:ext cx="9969501" cy="489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9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마음 블록과 순화 게이트</a:t>
            </a:r>
          </a:p>
        </p:txBody>
      </p:sp>
      <p:sp>
        <p:nvSpPr>
          <p:cNvPr id="201" name="색상별 마음 블록에 안전하게 담아 옮기고,…"/>
          <p:cNvSpPr txBox="1"/>
          <p:nvPr/>
        </p:nvSpPr>
        <p:spPr>
          <a:xfrm>
            <a:off x="5143500" y="4635500"/>
            <a:ext cx="9969500" cy="1174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색상별 마음 블록에 안전하게 담아 옮기고,</a:t>
            </a:r>
          </a:p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가득 찬 블록을 순화 게이트로 내보낸다.</a:t>
            </a:r>
          </a:p>
        </p:txBody>
      </p:sp>
      <p:sp>
        <p:nvSpPr>
          <p:cNvPr id="202" name="공용 스토리 플레이어"/>
          <p:cNvSpPr txBox="1"/>
          <p:nvPr/>
        </p:nvSpPr>
        <p:spPr>
          <a:xfrm>
            <a:off x="5143500" y="5969000"/>
            <a:ext cx="9969501" cy="489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9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공용 스토리 플레이어</a:t>
            </a:r>
          </a:p>
        </p:txBody>
      </p:sp>
      <p:sp>
        <p:nvSpPr>
          <p:cNvPr id="203" name="인트로와 챕터·원정 이야기 총 25개 시퀀스.…"/>
          <p:cNvSpPr txBox="1"/>
          <p:nvPr/>
        </p:nvSpPr>
        <p:spPr>
          <a:xfrm>
            <a:off x="5143500" y="6604000"/>
            <a:ext cx="9969500" cy="1174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인트로와 챕터·원정 이야기 총 25개 시퀀스.</a:t>
            </a:r>
          </a:p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닉네임 치환, 탭 진행, 자동 진행, 건너뛰기를 지원한다.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기본 조작과 충돌 규칙"/>
          <p:cNvSpPr txBox="1"/>
          <p:nvPr/>
        </p:nvSpPr>
        <p:spPr>
          <a:xfrm>
            <a:off x="889000" y="698499"/>
            <a:ext cx="14351000" cy="69285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42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기본 조작과 충돌 규칙</a:t>
            </a:r>
          </a:p>
        </p:txBody>
      </p:sp>
      <p:sp>
        <p:nvSpPr>
          <p:cNvPr id="209" name="04"/>
          <p:cNvSpPr txBox="1"/>
          <p:nvPr/>
        </p:nvSpPr>
        <p:spPr>
          <a:xfrm>
            <a:off x="15367000" y="8610600"/>
            <a:ext cx="571500" cy="2864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500">
                <a:solidFill>
                  <a:srgbClr val="888393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04</a:t>
            </a:r>
          </a:p>
        </p:txBody>
      </p:sp>
      <p:pic>
        <p:nvPicPr>
          <p:cNvPr id="210" name="37_game_normal.png" descr="37_game_norm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904999"/>
            <a:ext cx="3621882" cy="6438901"/>
          </a:xfrm>
          <a:prstGeom prst="rect">
            <a:avLst/>
          </a:prstGeom>
          <a:ln w="3175">
            <a:miter lim="400000"/>
          </a:ln>
        </p:spPr>
      </p:pic>
      <p:sp>
        <p:nvSpPr>
          <p:cNvPr id="211" name="상하좌우 드래그"/>
          <p:cNvSpPr txBox="1"/>
          <p:nvPr/>
        </p:nvSpPr>
        <p:spPr>
          <a:xfrm>
            <a:off x="5143499" y="2032000"/>
            <a:ext cx="9969501" cy="489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9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상하좌우 드래그</a:t>
            </a:r>
          </a:p>
        </p:txBody>
      </p:sp>
      <p:sp>
        <p:nvSpPr>
          <p:cNvPr id="212" name="블록이 차지하는 모든 칸을 검사하며 이동한다.…"/>
          <p:cNvSpPr txBox="1"/>
          <p:nvPr/>
        </p:nvSpPr>
        <p:spPr>
          <a:xfrm>
            <a:off x="5143500" y="2667000"/>
            <a:ext cx="9969500" cy="1174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블록이 차지하는 모든 칸을 검사하며 이동한다.</a:t>
            </a:r>
          </a:p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퍼즐 중 블록의 자유 회전은 지원하지 않는다.</a:t>
            </a:r>
          </a:p>
        </p:txBody>
      </p:sp>
      <p:sp>
        <p:nvSpPr>
          <p:cNvPr id="213" name="같은 색을 담아 길을 연다"/>
          <p:cNvSpPr txBox="1"/>
          <p:nvPr/>
        </p:nvSpPr>
        <p:spPr>
          <a:xfrm>
            <a:off x="5143500" y="4000500"/>
            <a:ext cx="9969500" cy="489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9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같은 색을 담아 길을 연다</a:t>
            </a:r>
          </a:p>
        </p:txBody>
      </p:sp>
      <p:sp>
        <p:nvSpPr>
          <p:cNvPr id="214" name="다른 색 젤리, 벽, 다른 블록은 통과할 수 없다.…"/>
          <p:cNvSpPr txBox="1"/>
          <p:nvPr/>
        </p:nvSpPr>
        <p:spPr>
          <a:xfrm>
            <a:off x="5143500" y="4635500"/>
            <a:ext cx="9969501" cy="1174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다른 색 젤리, 벽, 다른 블록은 통과할 수 없다.</a:t>
            </a:r>
          </a:p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어떤 색을 먼저 구조할지 순서를 판단한다.</a:t>
            </a:r>
          </a:p>
        </p:txBody>
      </p:sp>
      <p:sp>
        <p:nvSpPr>
          <p:cNvPr id="215" name="수용량은 블록 크기와 별개"/>
          <p:cNvSpPr txBox="1"/>
          <p:nvPr/>
        </p:nvSpPr>
        <p:spPr>
          <a:xfrm>
            <a:off x="5143500" y="5969000"/>
            <a:ext cx="9969501" cy="489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9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수용량은 블록 크기와 별개</a:t>
            </a:r>
          </a:p>
        </p:txBody>
      </p:sp>
      <p:sp>
        <p:nvSpPr>
          <p:cNvPr id="216" name="숫자는 남은 수용량이다. 한 번에 여러 마리를 담고,…"/>
          <p:cNvSpPr txBox="1"/>
          <p:nvPr/>
        </p:nvSpPr>
        <p:spPr>
          <a:xfrm>
            <a:off x="5143500" y="6604000"/>
            <a:ext cx="9969500" cy="1174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숫자는 남은 수용량이다. 한 번에 여러 마리를 담고,</a:t>
            </a:r>
          </a:p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가득 찬 블록이 사라지면 이동 공간이 넓어진다.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포획 이후의 GO와 배출"/>
          <p:cNvSpPr txBox="1"/>
          <p:nvPr/>
        </p:nvSpPr>
        <p:spPr>
          <a:xfrm>
            <a:off x="889000" y="698499"/>
            <a:ext cx="14351000" cy="69285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42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포획 이후의 GO와 배출</a:t>
            </a:r>
          </a:p>
        </p:txBody>
      </p:sp>
      <p:sp>
        <p:nvSpPr>
          <p:cNvPr id="222" name="05"/>
          <p:cNvSpPr txBox="1"/>
          <p:nvPr/>
        </p:nvSpPr>
        <p:spPr>
          <a:xfrm>
            <a:off x="15367000" y="8610600"/>
            <a:ext cx="571500" cy="2864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500">
                <a:solidFill>
                  <a:srgbClr val="888393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05</a:t>
            </a:r>
          </a:p>
        </p:txBody>
      </p:sp>
      <p:pic>
        <p:nvPicPr>
          <p:cNvPr id="223" name="66_game_go.png" descr="66_game_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904999"/>
            <a:ext cx="3621882" cy="6438901"/>
          </a:xfrm>
          <a:prstGeom prst="rect">
            <a:avLst/>
          </a:prstGeom>
          <a:ln w="3175">
            <a:miter lim="400000"/>
          </a:ln>
        </p:spPr>
      </p:pic>
      <p:sp>
        <p:nvSpPr>
          <p:cNvPr id="224" name="담은 젤리도 블록과 함께 이동"/>
          <p:cNvSpPr txBox="1"/>
          <p:nvPr/>
        </p:nvSpPr>
        <p:spPr>
          <a:xfrm>
            <a:off x="5143500" y="2032000"/>
            <a:ext cx="9969500" cy="489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9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담은 젤리도 블록과 함께 이동</a:t>
            </a:r>
          </a:p>
        </p:txBody>
      </p:sp>
      <p:sp>
        <p:nvSpPr>
          <p:cNvPr id="225" name="포획 즉시 수용량을 예약한다. 젤리는 블록 안에서…"/>
          <p:cNvSpPr txBox="1"/>
          <p:nvPr/>
        </p:nvSpPr>
        <p:spPr>
          <a:xfrm>
            <a:off x="5143499" y="2667000"/>
            <a:ext cx="9969501" cy="1174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포획 즉시 수용량을 예약한다. 젤리는 블록 안에서</a:t>
            </a:r>
          </a:p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약 0.5초 뒤 터지며 포획 중에도 드래그할 수 있다.</a:t>
            </a:r>
          </a:p>
        </p:txBody>
      </p:sp>
      <p:sp>
        <p:nvSpPr>
          <p:cNvPr id="226" name="출구가 있는 판은 운반까지"/>
          <p:cNvSpPr txBox="1"/>
          <p:nvPr/>
        </p:nvSpPr>
        <p:spPr>
          <a:xfrm>
            <a:off x="5143500" y="4000500"/>
            <a:ext cx="9969501" cy="489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9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출구가 있는 판은 운반까지</a:t>
            </a:r>
          </a:p>
        </p:txBody>
      </p:sp>
      <p:sp>
        <p:nvSpPr>
          <p:cNvPr id="227" name="가득 찬 블록은 GO가 된다. 같은 색 출구에 맞춰…"/>
          <p:cNvSpPr txBox="1"/>
          <p:nvPr/>
        </p:nvSpPr>
        <p:spPr>
          <a:xfrm>
            <a:off x="5143499" y="4635500"/>
            <a:ext cx="9969501" cy="1174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가득 찬 블록은 GO가 된다. 같은 색 출구에 맞춰</a:t>
            </a:r>
          </a:p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내보내야 하므로 마지막 이동 경로도 남겨 둔다.</a:t>
            </a:r>
          </a:p>
        </p:txBody>
      </p:sp>
      <p:sp>
        <p:nvSpPr>
          <p:cNvPr id="228" name="완료는 마지막 연출까지"/>
          <p:cNvSpPr txBox="1"/>
          <p:nvPr/>
        </p:nvSpPr>
        <p:spPr>
          <a:xfrm>
            <a:off x="5143500" y="5969000"/>
            <a:ext cx="9969501" cy="489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9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완료는 마지막 연출까지</a:t>
            </a:r>
          </a:p>
        </p:txBody>
      </p:sp>
      <p:sp>
        <p:nvSpPr>
          <p:cNvPr id="229" name="모든 젤리와 블록을 제거하고 포획 연출까지…"/>
          <p:cNvSpPr txBox="1"/>
          <p:nvPr/>
        </p:nvSpPr>
        <p:spPr>
          <a:xfrm>
            <a:off x="5143500" y="6604000"/>
            <a:ext cx="9969501" cy="1174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모든 젤리와 블록을 제거하고 포획 연출까지</a:t>
            </a:r>
          </a:p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끝나면 클리어한다. GO는 계속 조작 가능한 상태다.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퍼즐을 확장하는 기믹"/>
          <p:cNvSpPr txBox="1"/>
          <p:nvPr/>
        </p:nvSpPr>
        <p:spPr>
          <a:xfrm>
            <a:off x="889000" y="698499"/>
            <a:ext cx="14351000" cy="69285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42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퍼즐을 확장하는 기믹</a:t>
            </a:r>
          </a:p>
        </p:txBody>
      </p:sp>
      <p:sp>
        <p:nvSpPr>
          <p:cNvPr id="235" name="06"/>
          <p:cNvSpPr txBox="1"/>
          <p:nvPr/>
        </p:nvSpPr>
        <p:spPr>
          <a:xfrm>
            <a:off x="15367000" y="8610600"/>
            <a:ext cx="571500" cy="2864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500">
                <a:solidFill>
                  <a:srgbClr val="888393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06</a:t>
            </a:r>
          </a:p>
        </p:txBody>
      </p:sp>
      <p:graphicFrame>
        <p:nvGraphicFramePr>
          <p:cNvPr id="236" name="표 1"/>
          <p:cNvGraphicFramePr/>
          <p:nvPr/>
        </p:nvGraphicFramePr>
        <p:xfrm>
          <a:off x="889000" y="1968500"/>
          <a:ext cx="14478000" cy="629920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431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7400">
                <a:tc>
                  <a:txBody>
                    <a:bodyPr/>
                    <a:lstStyle/>
                    <a:p>
                      <a:pPr algn="l" defTabSz="914400">
                        <a:tabLst>
                          <a:tab pos="1104900" algn="l"/>
                        </a:tabLst>
                        <a:defRPr sz="1800" b="0"/>
                      </a:pPr>
                      <a:r>
                        <a:rPr sz="2400">
                          <a:solidFill>
                            <a:srgbClr val="FFFFFF"/>
                          </a:solidFill>
                          <a:latin typeface="Apple SD 산돌고딕 Neo 볼드체"/>
                          <a:ea typeface="Apple SD 산돌고딕 Neo 볼드체"/>
                          <a:cs typeface="Apple SD 산돌고딕 Neo 볼드체"/>
                          <a:sym typeface="Apple SD 산돌고딕 Neo 볼드체"/>
                        </a:rPr>
                        <a:t>기믹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7B4DA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1104900" algn="l"/>
                        </a:tabLst>
                        <a:defRPr sz="1800" b="0"/>
                      </a:pPr>
                      <a:r>
                        <a:rPr sz="2400">
                          <a:solidFill>
                            <a:srgbClr val="FFFFFF"/>
                          </a:solidFill>
                          <a:latin typeface="Apple SD 산돌고딕 Neo 볼드체"/>
                          <a:ea typeface="Apple SD 산돌고딕 Neo 볼드체"/>
                          <a:cs typeface="Apple SD 산돌고딕 Neo 볼드체"/>
                          <a:sym typeface="Apple SD 산돌고딕 Neo 볼드체"/>
                        </a:rPr>
                        <a:t>현재 규칙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7B4D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4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모양 봉인 / 스위치 / 열쇠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4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정확한 모양 배치, 스위치 접촉, 열쇠 구조로 잠금 해제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4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얼음 / 순서 체인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4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반복 접촉으로 얼음 제거, 지정 순번대로 구조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4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유령 / 폭탄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4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다른 색 블록도 통과, 구조하면 인접 일반 벽 파괴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4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끈끈이 / 일방통행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4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이동 감속과 비용 2, 화살표 방향으로만 진입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4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포털 / 붕괴 장벽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4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짝 포털로 이동, 누적 이동 비용에 따라 벽 개방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4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안개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4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가까이 접근하면 젤리의 어두운 표시 복원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4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바람 / 시간 균열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4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방향에 따른 시간 증감, 최초 진입 때 시간 비용 차감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37" name="색과 경로의 기본 규칙 위에 진입 조건, 공간 변화, 시간 비용을 추가한다."/>
          <p:cNvSpPr txBox="1"/>
          <p:nvPr/>
        </p:nvSpPr>
        <p:spPr>
          <a:xfrm>
            <a:off x="889000" y="8445500"/>
            <a:ext cx="14224000" cy="2991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700">
                <a:solidFill>
                  <a:srgbClr val="888393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색과 경로의 기본 규칙 위에 진입 조건, 공간 변화, 시간 비용을 추가한다.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보스와 대체 승리 조건"/>
          <p:cNvSpPr txBox="1"/>
          <p:nvPr/>
        </p:nvSpPr>
        <p:spPr>
          <a:xfrm>
            <a:off x="889000" y="698499"/>
            <a:ext cx="14351000" cy="69285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42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보스와 대체 승리 조건</a:t>
            </a:r>
          </a:p>
        </p:txBody>
      </p:sp>
      <p:sp>
        <p:nvSpPr>
          <p:cNvPr id="243" name="07"/>
          <p:cNvSpPr txBox="1"/>
          <p:nvPr/>
        </p:nvSpPr>
        <p:spPr>
          <a:xfrm>
            <a:off x="15367000" y="8610600"/>
            <a:ext cx="571500" cy="2864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500">
                <a:solidFill>
                  <a:srgbClr val="888393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07</a:t>
            </a:r>
          </a:p>
        </p:txBody>
      </p:sp>
      <p:graphicFrame>
        <p:nvGraphicFramePr>
          <p:cNvPr id="244" name="표 1"/>
          <p:cNvGraphicFramePr/>
          <p:nvPr/>
        </p:nvGraphicFramePr>
        <p:xfrm>
          <a:off x="889000" y="2032000"/>
          <a:ext cx="14478000" cy="622300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7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89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1104900" algn="l"/>
                        </a:tabLst>
                        <a:defRPr sz="1800" b="0"/>
                      </a:pPr>
                      <a:r>
                        <a:rPr sz="2400">
                          <a:solidFill>
                            <a:srgbClr val="FFFFFF"/>
                          </a:solidFill>
                          <a:latin typeface="Apple SD 산돌고딕 Neo 볼드체"/>
                          <a:ea typeface="Apple SD 산돌고딕 Neo 볼드체"/>
                          <a:cs typeface="Apple SD 산돌고딕 Neo 볼드체"/>
                          <a:sym typeface="Apple SD 산돌고딕 Neo 볼드체"/>
                        </a:rPr>
                        <a:t>구분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7B4DA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1104900" algn="l"/>
                        </a:tabLst>
                        <a:defRPr sz="1800" b="0"/>
                      </a:pPr>
                      <a:r>
                        <a:rPr sz="2400">
                          <a:solidFill>
                            <a:srgbClr val="FFFFFF"/>
                          </a:solidFill>
                          <a:latin typeface="Apple SD 산돌고딕 Neo 볼드체"/>
                          <a:ea typeface="Apple SD 산돌고딕 Neo 볼드체"/>
                          <a:cs typeface="Apple SD 산돌고딕 Neo 볼드체"/>
                          <a:sym typeface="Apple SD 산돌고딕 Neo 볼드체"/>
                        </a:rPr>
                        <a:t>유형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7B4DA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1104900" algn="l"/>
                        </a:tabLst>
                        <a:defRPr sz="1800" b="0"/>
                      </a:pPr>
                      <a:r>
                        <a:rPr sz="2400">
                          <a:solidFill>
                            <a:srgbClr val="FFFFFF"/>
                          </a:solidFill>
                          <a:latin typeface="Apple SD 산돌고딕 Neo 볼드체"/>
                          <a:ea typeface="Apple SD 산돌고딕 Neo 볼드체"/>
                          <a:cs typeface="Apple SD 산돌고딕 Neo 볼드체"/>
                          <a:sym typeface="Apple SD 산돌고딕 Neo 볼드체"/>
                        </a:rPr>
                        <a:t>플레이어가 해결할 문제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7B4D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4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보스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4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왕젤리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4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같은 색 블록으로 여러 번 접촉할 동선 확보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4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보스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4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분열 젤리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4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구조 후 생기는 미니 젤리의 공간과 수용량 관리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4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보스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4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시간 도둑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4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시간을 빼앗기기 전에 구조할 우선순위 판단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4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목표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4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제한 이동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4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정해진 이동 비용 안에서 전원 구조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4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목표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4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지정 색 순서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4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현재 색을 모두 구조한 다음 다음 색 진행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4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목표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4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전담 호위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4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지정 젤리를 전담 블록으로 구조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45" name="보스는 10레벨마다 순환한다. 체력·분열 수·시간 속성은 콘텐츠별 데이터로 조절한다."/>
          <p:cNvSpPr txBox="1"/>
          <p:nvPr/>
        </p:nvSpPr>
        <p:spPr>
          <a:xfrm>
            <a:off x="889000" y="8445500"/>
            <a:ext cx="14224000" cy="2991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700">
                <a:solidFill>
                  <a:srgbClr val="888393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보스는 10레벨마다 순환한다. 체력·분열 수·시간 속성은 콘텐츠별 데이터로 조절한다.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첫 경험과 기능 공개"/>
          <p:cNvSpPr txBox="1"/>
          <p:nvPr/>
        </p:nvSpPr>
        <p:spPr>
          <a:xfrm>
            <a:off x="889000" y="698499"/>
            <a:ext cx="14351001" cy="69285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42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첫 경험과 기능 공개</a:t>
            </a:r>
          </a:p>
        </p:txBody>
      </p:sp>
      <p:sp>
        <p:nvSpPr>
          <p:cNvPr id="251" name="08"/>
          <p:cNvSpPr txBox="1"/>
          <p:nvPr/>
        </p:nvSpPr>
        <p:spPr>
          <a:xfrm>
            <a:off x="15367000" y="8610600"/>
            <a:ext cx="571500" cy="2864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500">
                <a:solidFill>
                  <a:srgbClr val="888393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08</a:t>
            </a:r>
          </a:p>
        </p:txBody>
      </p:sp>
      <p:pic>
        <p:nvPicPr>
          <p:cNvPr id="252" name="34_tutorial_drag.png" descr="34_tutorial_dr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904999"/>
            <a:ext cx="3621882" cy="6438901"/>
          </a:xfrm>
          <a:prstGeom prst="rect">
            <a:avLst/>
          </a:prstGeom>
          <a:ln w="3175">
            <a:miter lim="400000"/>
          </a:ln>
        </p:spPr>
      </p:pic>
      <p:sp>
        <p:nvSpPr>
          <p:cNvPr id="253" name="닉네임과 첫 교감"/>
          <p:cNvSpPr txBox="1"/>
          <p:nvPr/>
        </p:nvSpPr>
        <p:spPr>
          <a:xfrm>
            <a:off x="5143500" y="2032000"/>
            <a:ext cx="9969501" cy="489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9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닉네임과 첫 교감</a:t>
            </a:r>
          </a:p>
        </p:txBody>
      </p:sp>
      <p:sp>
        <p:nvSpPr>
          <p:cNvPr id="254" name="공백 없는 1~12자 이름을 입력한다.…"/>
          <p:cNvSpPr txBox="1"/>
          <p:nvPr/>
        </p:nvSpPr>
        <p:spPr>
          <a:xfrm>
            <a:off x="5143500" y="2667000"/>
            <a:ext cx="9969500" cy="1174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공백 없는 1~12자 이름을 입력한다.</a:t>
            </a:r>
          </a:p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인트로 후 홈에서 대표 젤리몬의 터치 반응을 만난다.</a:t>
            </a:r>
          </a:p>
        </p:txBody>
      </p:sp>
      <p:sp>
        <p:nvSpPr>
          <p:cNvPr id="255" name="핵심 규칙을 한 단계씩"/>
          <p:cNvSpPr txBox="1"/>
          <p:nvPr/>
        </p:nvSpPr>
        <p:spPr>
          <a:xfrm>
            <a:off x="5143500" y="4000500"/>
            <a:ext cx="9969501" cy="489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9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핵심 규칙을 한 단계씩</a:t>
            </a:r>
          </a:p>
        </p:txBody>
      </p:sp>
      <p:sp>
        <p:nvSpPr>
          <p:cNvPr id="256" name="첫 네 판은 흡수, 모양 봉인, 배출, 색 장벽 순서.…"/>
          <p:cNvSpPr txBox="1"/>
          <p:nvPr/>
        </p:nvSpPr>
        <p:spPr>
          <a:xfrm>
            <a:off x="5143500" y="4635500"/>
            <a:ext cx="9969500" cy="1174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첫 네 판은 흡수, 모양 봉인, 배출, 색 장벽 순서.</a:t>
            </a:r>
          </a:p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안내 중에는 타이머를 멈추고 도움말을 제공한다.</a:t>
            </a:r>
          </a:p>
        </p:txBody>
      </p:sp>
      <p:sp>
        <p:nvSpPr>
          <p:cNvPr id="257" name="메타 기능도 순차 공개"/>
          <p:cNvSpPr txBox="1"/>
          <p:nvPr/>
        </p:nvSpPr>
        <p:spPr>
          <a:xfrm>
            <a:off x="5143499" y="5969000"/>
            <a:ext cx="9969501" cy="489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9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메타 기능도 순차 공개</a:t>
            </a:r>
          </a:p>
        </p:txBody>
      </p:sp>
      <p:sp>
        <p:nvSpPr>
          <p:cNvPr id="258" name="출석 L3, 꾸미기 L4, 앨범 L5, 미션 L6.…"/>
          <p:cNvSpPr txBox="1"/>
          <p:nvPr/>
        </p:nvSpPr>
        <p:spPr>
          <a:xfrm>
            <a:off x="5143500" y="6604000"/>
            <a:ext cx="9969500" cy="1174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출석 L3, 꾸미기 L4, 앨범 L5, 미션 L6.</a:t>
            </a:r>
          </a:p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상점 L10, 시즌 생활 L15에 도달하며 열린다.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점수, 별과 클리어 보상"/>
          <p:cNvSpPr txBox="1"/>
          <p:nvPr/>
        </p:nvSpPr>
        <p:spPr>
          <a:xfrm>
            <a:off x="889000" y="698499"/>
            <a:ext cx="14351000" cy="69285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42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점수, 별과 클리어 보상</a:t>
            </a:r>
          </a:p>
        </p:txBody>
      </p:sp>
      <p:sp>
        <p:nvSpPr>
          <p:cNvPr id="264" name="09"/>
          <p:cNvSpPr txBox="1"/>
          <p:nvPr/>
        </p:nvSpPr>
        <p:spPr>
          <a:xfrm>
            <a:off x="15367000" y="8610600"/>
            <a:ext cx="571500" cy="2864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500">
                <a:solidFill>
                  <a:srgbClr val="888393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09</a:t>
            </a:r>
          </a:p>
        </p:txBody>
      </p:sp>
      <p:pic>
        <p:nvPicPr>
          <p:cNvPr id="265" name="41_result_clear.png" descr="41_result_cl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904999"/>
            <a:ext cx="3621882" cy="6438901"/>
          </a:xfrm>
          <a:prstGeom prst="rect">
            <a:avLst/>
          </a:prstGeom>
          <a:ln w="3175">
            <a:miter lim="400000"/>
          </a:ln>
        </p:spPr>
      </p:pic>
      <p:sp>
        <p:nvSpPr>
          <p:cNvPr id="266" name="점수와 별의 역할"/>
          <p:cNvSpPr txBox="1"/>
          <p:nvPr/>
        </p:nvSpPr>
        <p:spPr>
          <a:xfrm>
            <a:off x="5143500" y="2032000"/>
            <a:ext cx="9969501" cy="489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9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점수와 별의 역할</a:t>
            </a:r>
          </a:p>
        </p:txBody>
      </p:sp>
      <p:sp>
        <p:nvSpPr>
          <p:cNvPr id="267" name="일반 젤리 100점, 샤이니 600점.…"/>
          <p:cNvSpPr txBox="1"/>
          <p:nvPr/>
        </p:nvSpPr>
        <p:spPr>
          <a:xfrm>
            <a:off x="5143500" y="2667000"/>
            <a:ext cx="9969500" cy="1174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일반 젤리 100점, 샤이니 600점.</a:t>
            </a:r>
          </a:p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별은 남은 시간 비율로 판정하며 점수와 구분한다.</a:t>
            </a:r>
          </a:p>
        </p:txBody>
      </p:sp>
      <p:sp>
        <p:nvSpPr>
          <p:cNvPr id="268" name="별가루는 처음 달성한 단계만"/>
          <p:cNvSpPr txBox="1"/>
          <p:nvPr/>
        </p:nvSpPr>
        <p:spPr>
          <a:xfrm>
            <a:off x="5143499" y="4000500"/>
            <a:ext cx="9969501" cy="489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9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별가루는 처음 달성한 단계만</a:t>
            </a:r>
          </a:p>
        </p:txBody>
      </p:sp>
      <p:sp>
        <p:nvSpPr>
          <p:cNvPr id="269" name="처음 1성은 1개, 2성은 합계 3개, 3성은 합계 6개.…"/>
          <p:cNvSpPr txBox="1"/>
          <p:nvPr/>
        </p:nvSpPr>
        <p:spPr>
          <a:xfrm>
            <a:off x="5143500" y="4635500"/>
            <a:ext cx="9969501" cy="1174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처음 1성은 1개, 2성은 합계 3개, 3성은 합계 6개.</a:t>
            </a:r>
          </a:p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1성에서 3성으로 갱신하면 추가 5개를 얻는다.</a:t>
            </a:r>
          </a:p>
        </p:txBody>
      </p:sp>
      <p:sp>
        <p:nvSpPr>
          <p:cNvPr id="270" name="성과를 남기는 결과 화면"/>
          <p:cNvSpPr txBox="1"/>
          <p:nvPr/>
        </p:nvSpPr>
        <p:spPr>
          <a:xfrm>
            <a:off x="5143500" y="5969000"/>
            <a:ext cx="9969501" cy="489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9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성과를 남기는 결과 화면</a:t>
            </a:r>
          </a:p>
        </p:txBody>
      </p:sp>
      <p:sp>
        <p:nvSpPr>
          <p:cNvPr id="271" name="최고 별과 최단시간을 저장한다. 첫 클리어에는…"/>
          <p:cNvSpPr txBox="1"/>
          <p:nvPr/>
        </p:nvSpPr>
        <p:spPr>
          <a:xfrm>
            <a:off x="5143500" y="6604000"/>
            <a:ext cx="9969500" cy="1174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최고 별과 최단시간을 저장한다. 첫 클리어에는</a:t>
            </a:r>
          </a:p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주민·지정 가구 등 추가 보상이 연결된다.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행동력과 실패 후 재도전"/>
          <p:cNvSpPr txBox="1"/>
          <p:nvPr/>
        </p:nvSpPr>
        <p:spPr>
          <a:xfrm>
            <a:off x="889000" y="698499"/>
            <a:ext cx="14351001" cy="69285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42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행동력과 실패 후 재도전</a:t>
            </a:r>
          </a:p>
        </p:txBody>
      </p:sp>
      <p:sp>
        <p:nvSpPr>
          <p:cNvPr id="277" name="10"/>
          <p:cNvSpPr txBox="1"/>
          <p:nvPr/>
        </p:nvSpPr>
        <p:spPr>
          <a:xfrm>
            <a:off x="15367000" y="8610600"/>
            <a:ext cx="571500" cy="2864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500">
                <a:solidFill>
                  <a:srgbClr val="888393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10</a:t>
            </a:r>
          </a:p>
        </p:txBody>
      </p:sp>
      <p:pic>
        <p:nvPicPr>
          <p:cNvPr id="278" name="43_fail_continue.png" descr="43_fail_conti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904999"/>
            <a:ext cx="3621882" cy="6438901"/>
          </a:xfrm>
          <a:prstGeom prst="rect">
            <a:avLst/>
          </a:prstGeom>
          <a:ln w="3175">
            <a:miter lim="400000"/>
          </a:ln>
        </p:spPr>
      </p:pic>
      <p:sp>
        <p:nvSpPr>
          <p:cNvPr id="279" name="초반 보호와 성공 환급"/>
          <p:cNvSpPr txBox="1"/>
          <p:nvPr/>
        </p:nvSpPr>
        <p:spPr>
          <a:xfrm>
            <a:off x="5143499" y="2032000"/>
            <a:ext cx="9969501" cy="489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9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초반 보호와 성공 환급</a:t>
            </a:r>
          </a:p>
        </p:txBody>
      </p:sp>
      <p:sp>
        <p:nvSpPr>
          <p:cNvPr id="280" name="L1~10은 무료다. 이후 입장 때 하트 1개를 예약하고…"/>
          <p:cNvSpPr txBox="1"/>
          <p:nvPr/>
        </p:nvSpPr>
        <p:spPr>
          <a:xfrm>
            <a:off x="5143500" y="2667000"/>
            <a:ext cx="9969500" cy="1174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L1~10은 무료다. 이후 입장 때 하트 1개를 예약하고</a:t>
            </a:r>
          </a:p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성공하면 반환하며 실패·포기에는 소모한다.</a:t>
            </a:r>
          </a:p>
        </p:txBody>
      </p:sp>
      <p:sp>
        <p:nvSpPr>
          <p:cNvPr id="281" name="10분마다 하트 1개 회복"/>
          <p:cNvSpPr txBox="1"/>
          <p:nvPr/>
        </p:nvSpPr>
        <p:spPr>
          <a:xfrm>
            <a:off x="5143500" y="4000500"/>
            <a:ext cx="9969501" cy="489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9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10분마다 하트 1개 회복</a:t>
            </a:r>
          </a:p>
        </p:txBody>
      </p:sp>
      <p:sp>
        <p:nvSpPr>
          <p:cNvPr id="282" name="자연 회복 상한은 5개이며 오프라인 시간도 계산한다.…"/>
          <p:cNvSpPr txBox="1"/>
          <p:nvPr/>
        </p:nvSpPr>
        <p:spPr>
          <a:xfrm>
            <a:off x="5143500" y="4635500"/>
            <a:ext cx="9969500" cy="1174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자연 회복 상한은 5개이며 오프라인 시간도 계산한다.</a:t>
            </a:r>
          </a:p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출석·상품의 보너스 하트는 5개를 넘게 보유할 수 있다.</a:t>
            </a:r>
          </a:p>
        </p:txBody>
      </p:sp>
      <p:sp>
        <p:nvSpPr>
          <p:cNvPr id="283" name="별가루 20개로 한 번 이어하기"/>
          <p:cNvSpPr txBox="1"/>
          <p:nvPr/>
        </p:nvSpPr>
        <p:spPr>
          <a:xfrm>
            <a:off x="5143500" y="5969000"/>
            <a:ext cx="9969501" cy="489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9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별가루 20개로 한 번 이어하기</a:t>
            </a:r>
          </a:p>
        </p:txBody>
      </p:sp>
      <p:sp>
        <p:nvSpPr>
          <p:cNvPr id="284" name="보드를 유지하고 시간을 복원한다. 이후 성과는 1성.…"/>
          <p:cNvSpPr txBox="1"/>
          <p:nvPr/>
        </p:nvSpPr>
        <p:spPr>
          <a:xfrm>
            <a:off x="5143500" y="6604000"/>
            <a:ext cx="9969500" cy="1174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보드를 유지하고 시간을 복원한다. 이후 성과는 1성.</a:t>
            </a:r>
          </a:p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제한 이동 실패의 이어하기는 별도 검토가 필요하다.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상황에 맞춰 쓰는 부스터 5종"/>
          <p:cNvSpPr txBox="1"/>
          <p:nvPr/>
        </p:nvSpPr>
        <p:spPr>
          <a:xfrm>
            <a:off x="889000" y="698499"/>
            <a:ext cx="14351000" cy="69285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42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상황에 맞춰 쓰는 부스터 5종</a:t>
            </a:r>
          </a:p>
        </p:txBody>
      </p:sp>
      <p:sp>
        <p:nvSpPr>
          <p:cNvPr id="290" name="11"/>
          <p:cNvSpPr txBox="1"/>
          <p:nvPr/>
        </p:nvSpPr>
        <p:spPr>
          <a:xfrm>
            <a:off x="15367000" y="8610600"/>
            <a:ext cx="571500" cy="2864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500">
                <a:solidFill>
                  <a:srgbClr val="888393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11</a:t>
            </a:r>
          </a:p>
        </p:txBody>
      </p:sp>
      <p:pic>
        <p:nvPicPr>
          <p:cNvPr id="291" name="time_v1.png" descr="time_v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6999" y="2413000"/>
            <a:ext cx="1651001" cy="1651001"/>
          </a:xfrm>
          <a:prstGeom prst="rect">
            <a:avLst/>
          </a:prstGeom>
          <a:ln w="3175">
            <a:miter lim="400000"/>
          </a:ln>
        </p:spPr>
      </p:pic>
      <p:sp>
        <p:nvSpPr>
          <p:cNvPr id="292" name="시간"/>
          <p:cNvSpPr txBox="1"/>
          <p:nvPr/>
        </p:nvSpPr>
        <p:spPr>
          <a:xfrm>
            <a:off x="888999" y="4445000"/>
            <a:ext cx="2667001" cy="502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30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시간</a:t>
            </a:r>
          </a:p>
        </p:txBody>
      </p:sp>
      <p:sp>
        <p:nvSpPr>
          <p:cNvPr id="293" name="남은 시간 +15초"/>
          <p:cNvSpPr txBox="1"/>
          <p:nvPr/>
        </p:nvSpPr>
        <p:spPr>
          <a:xfrm>
            <a:off x="888999" y="5270500"/>
            <a:ext cx="2730501" cy="4388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남은 시간 +15초</a:t>
            </a:r>
          </a:p>
        </p:txBody>
      </p:sp>
      <p:sp>
        <p:nvSpPr>
          <p:cNvPr id="294" name="기본 2개"/>
          <p:cNvSpPr txBox="1"/>
          <p:nvPr/>
        </p:nvSpPr>
        <p:spPr>
          <a:xfrm>
            <a:off x="889000" y="7010400"/>
            <a:ext cx="2667001" cy="3880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200">
                <a:solidFill>
                  <a:srgbClr val="888393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기본 2개</a:t>
            </a:r>
          </a:p>
        </p:txBody>
      </p:sp>
      <p:pic>
        <p:nvPicPr>
          <p:cNvPr id="295" name="compass_v1.png" descr="compass_v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2413000"/>
            <a:ext cx="1651000" cy="1651001"/>
          </a:xfrm>
          <a:prstGeom prst="rect">
            <a:avLst/>
          </a:prstGeom>
          <a:ln w="3175">
            <a:miter lim="400000"/>
          </a:ln>
        </p:spPr>
      </p:pic>
      <p:sp>
        <p:nvSpPr>
          <p:cNvPr id="296" name="나침반"/>
          <p:cNvSpPr txBox="1"/>
          <p:nvPr/>
        </p:nvSpPr>
        <p:spPr>
          <a:xfrm>
            <a:off x="3873499" y="4445000"/>
            <a:ext cx="2667001" cy="502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30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나침반</a:t>
            </a:r>
          </a:p>
        </p:txBody>
      </p:sp>
      <p:sp>
        <p:nvSpPr>
          <p:cNvPr id="297" name="가능한 이동…"/>
          <p:cNvSpPr txBox="1"/>
          <p:nvPr/>
        </p:nvSpPr>
        <p:spPr>
          <a:xfrm>
            <a:off x="3873500" y="5270500"/>
            <a:ext cx="2730500" cy="1174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가능한 이동</a:t>
            </a:r>
          </a:p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한 방향 표시</a:t>
            </a:r>
          </a:p>
        </p:txBody>
      </p:sp>
      <p:sp>
        <p:nvSpPr>
          <p:cNvPr id="298" name="기본 2개"/>
          <p:cNvSpPr txBox="1"/>
          <p:nvPr/>
        </p:nvSpPr>
        <p:spPr>
          <a:xfrm>
            <a:off x="3873500" y="7010400"/>
            <a:ext cx="2667000" cy="3880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200">
                <a:solidFill>
                  <a:srgbClr val="888393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기본 2개</a:t>
            </a:r>
          </a:p>
        </p:txBody>
      </p:sp>
      <p:pic>
        <p:nvPicPr>
          <p:cNvPr id="299" name="ice_v1.png" descr="ice_v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0" y="2413000"/>
            <a:ext cx="1651000" cy="1651001"/>
          </a:xfrm>
          <a:prstGeom prst="rect">
            <a:avLst/>
          </a:prstGeom>
          <a:ln w="3175">
            <a:miter lim="400000"/>
          </a:ln>
        </p:spPr>
      </p:pic>
      <p:sp>
        <p:nvSpPr>
          <p:cNvPr id="300" name="얼음"/>
          <p:cNvSpPr txBox="1"/>
          <p:nvPr/>
        </p:nvSpPr>
        <p:spPr>
          <a:xfrm>
            <a:off x="6857999" y="4445000"/>
            <a:ext cx="2667001" cy="502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30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얼음</a:t>
            </a:r>
          </a:p>
        </p:txBody>
      </p:sp>
      <p:sp>
        <p:nvSpPr>
          <p:cNvPr id="301" name="모든 얼음의…"/>
          <p:cNvSpPr txBox="1"/>
          <p:nvPr/>
        </p:nvSpPr>
        <p:spPr>
          <a:xfrm>
            <a:off x="6858000" y="5270500"/>
            <a:ext cx="2730500" cy="1174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모든 얼음의</a:t>
            </a:r>
          </a:p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층 1씩 감소</a:t>
            </a:r>
          </a:p>
        </p:txBody>
      </p:sp>
      <p:sp>
        <p:nvSpPr>
          <p:cNvPr id="302" name="기본 1개"/>
          <p:cNvSpPr txBox="1"/>
          <p:nvPr/>
        </p:nvSpPr>
        <p:spPr>
          <a:xfrm>
            <a:off x="6857999" y="7010400"/>
            <a:ext cx="2667001" cy="3880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200">
                <a:solidFill>
                  <a:srgbClr val="888393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기본 1개</a:t>
            </a:r>
          </a:p>
        </p:txBody>
      </p:sp>
      <p:pic>
        <p:nvPicPr>
          <p:cNvPr id="303" name="space_v1.png" descr="space_v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0500" y="2413000"/>
            <a:ext cx="1651000" cy="1651001"/>
          </a:xfrm>
          <a:prstGeom prst="rect">
            <a:avLst/>
          </a:prstGeom>
          <a:ln w="3175">
            <a:miter lim="400000"/>
          </a:ln>
        </p:spPr>
      </p:pic>
      <p:sp>
        <p:nvSpPr>
          <p:cNvPr id="304" name="공간"/>
          <p:cNvSpPr txBox="1"/>
          <p:nvPr/>
        </p:nvSpPr>
        <p:spPr>
          <a:xfrm>
            <a:off x="9842500" y="4445000"/>
            <a:ext cx="2667000" cy="502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30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공간</a:t>
            </a:r>
          </a:p>
        </p:txBody>
      </p:sp>
      <p:sp>
        <p:nvSpPr>
          <p:cNvPr id="305" name="인접한 일반 벽…"/>
          <p:cNvSpPr txBox="1"/>
          <p:nvPr/>
        </p:nvSpPr>
        <p:spPr>
          <a:xfrm>
            <a:off x="9842500" y="5270500"/>
            <a:ext cx="2730500" cy="1174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인접한 일반 벽</a:t>
            </a:r>
          </a:p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1개 제거</a:t>
            </a:r>
          </a:p>
        </p:txBody>
      </p:sp>
      <p:sp>
        <p:nvSpPr>
          <p:cNvPr id="306" name="기본 1개"/>
          <p:cNvSpPr txBox="1"/>
          <p:nvPr/>
        </p:nvSpPr>
        <p:spPr>
          <a:xfrm>
            <a:off x="9842499" y="7010400"/>
            <a:ext cx="2667001" cy="3880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200">
                <a:solidFill>
                  <a:srgbClr val="888393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기본 1개</a:t>
            </a:r>
          </a:p>
        </p:txBody>
      </p:sp>
      <p:pic>
        <p:nvPicPr>
          <p:cNvPr id="307" name="rescue_v1.png" descr="rescue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35000" y="2413000"/>
            <a:ext cx="1651000" cy="1651001"/>
          </a:xfrm>
          <a:prstGeom prst="rect">
            <a:avLst/>
          </a:prstGeom>
          <a:ln w="3175">
            <a:miter lim="400000"/>
          </a:ln>
        </p:spPr>
      </p:pic>
      <p:sp>
        <p:nvSpPr>
          <p:cNvPr id="308" name="구조"/>
          <p:cNvSpPr txBox="1"/>
          <p:nvPr/>
        </p:nvSpPr>
        <p:spPr>
          <a:xfrm>
            <a:off x="12826999" y="4445000"/>
            <a:ext cx="2667001" cy="502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30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구조</a:t>
            </a:r>
          </a:p>
        </p:txBody>
      </p:sp>
      <p:sp>
        <p:nvSpPr>
          <p:cNvPr id="309" name="잠금·봉인…"/>
          <p:cNvSpPr txBox="1"/>
          <p:nvPr/>
        </p:nvSpPr>
        <p:spPr>
          <a:xfrm>
            <a:off x="12827000" y="5270500"/>
            <a:ext cx="2730501" cy="1174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잠금·봉인</a:t>
            </a:r>
          </a:p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효과 하나 해제</a:t>
            </a:r>
          </a:p>
        </p:txBody>
      </p:sp>
      <p:sp>
        <p:nvSpPr>
          <p:cNvPr id="310" name="기본 1개"/>
          <p:cNvSpPr txBox="1"/>
          <p:nvPr/>
        </p:nvSpPr>
        <p:spPr>
          <a:xfrm>
            <a:off x="12827000" y="7010400"/>
            <a:ext cx="2667000" cy="3880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200">
                <a:solidFill>
                  <a:srgbClr val="888393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기본 1개</a:t>
            </a:r>
          </a:p>
        </p:txBody>
      </p:sp>
      <p:sp>
        <p:nvSpPr>
          <p:cNvPr id="311" name="효과를 적용할 대상이 없으면 소비하지 않는다. 나침반은 최적 해답을 보장하지 않는다."/>
          <p:cNvSpPr txBox="1"/>
          <p:nvPr/>
        </p:nvSpPr>
        <p:spPr>
          <a:xfrm>
            <a:off x="889000" y="8445500"/>
            <a:ext cx="14224000" cy="2991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700">
                <a:solidFill>
                  <a:srgbClr val="888393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효과를 적용할 대상이 없으면 소비하지 않는다. 나침반은 최적 해답을 보장하지 않는다.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여섯 주민의 성격과 생활"/>
          <p:cNvSpPr txBox="1"/>
          <p:nvPr/>
        </p:nvSpPr>
        <p:spPr>
          <a:xfrm>
            <a:off x="889000" y="698499"/>
            <a:ext cx="14351001" cy="69285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42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여섯 주민의 성격과 생활</a:t>
            </a:r>
          </a:p>
        </p:txBody>
      </p:sp>
      <p:sp>
        <p:nvSpPr>
          <p:cNvPr id="317" name="12"/>
          <p:cNvSpPr txBox="1"/>
          <p:nvPr/>
        </p:nvSpPr>
        <p:spPr>
          <a:xfrm>
            <a:off x="15367000" y="8610600"/>
            <a:ext cx="571500" cy="2864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500">
                <a:solidFill>
                  <a:srgbClr val="888393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12</a:t>
            </a:r>
          </a:p>
        </p:txBody>
      </p:sp>
      <p:pic>
        <p:nvPicPr>
          <p:cNvPr id="318" name="jelly_R_v5.png" descr="jelly_R_v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2159000"/>
            <a:ext cx="1524000" cy="1524000"/>
          </a:xfrm>
          <a:prstGeom prst="rect">
            <a:avLst/>
          </a:prstGeom>
          <a:ln w="3175">
            <a:miter lim="400000"/>
          </a:ln>
        </p:spPr>
      </p:pic>
      <p:sp>
        <p:nvSpPr>
          <p:cNvPr id="319" name="말랑"/>
          <p:cNvSpPr txBox="1"/>
          <p:nvPr/>
        </p:nvSpPr>
        <p:spPr>
          <a:xfrm>
            <a:off x="2730500" y="2260600"/>
            <a:ext cx="2857501" cy="502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30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말랑</a:t>
            </a:r>
          </a:p>
        </p:txBody>
      </p:sp>
      <p:sp>
        <p:nvSpPr>
          <p:cNvPr id="320" name="다정한 리더"/>
          <p:cNvSpPr txBox="1"/>
          <p:nvPr/>
        </p:nvSpPr>
        <p:spPr>
          <a:xfrm>
            <a:off x="2730499" y="2921000"/>
            <a:ext cx="2857501" cy="4388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다정한 리더</a:t>
            </a:r>
          </a:p>
        </p:txBody>
      </p:sp>
      <p:pic>
        <p:nvPicPr>
          <p:cNvPr id="321" name="jelly_Y_v5.png" descr="jelly_Y_v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0" y="2159000"/>
            <a:ext cx="1524000" cy="1524000"/>
          </a:xfrm>
          <a:prstGeom prst="rect">
            <a:avLst/>
          </a:prstGeom>
          <a:ln w="3175">
            <a:miter lim="400000"/>
          </a:ln>
        </p:spPr>
      </p:pic>
      <p:sp>
        <p:nvSpPr>
          <p:cNvPr id="322" name="별콩"/>
          <p:cNvSpPr txBox="1"/>
          <p:nvPr/>
        </p:nvSpPr>
        <p:spPr>
          <a:xfrm>
            <a:off x="7683500" y="2260600"/>
            <a:ext cx="2857500" cy="502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30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별콩</a:t>
            </a:r>
          </a:p>
        </p:txBody>
      </p:sp>
      <p:sp>
        <p:nvSpPr>
          <p:cNvPr id="323" name="호기심 많은 탐험가"/>
          <p:cNvSpPr txBox="1"/>
          <p:nvPr/>
        </p:nvSpPr>
        <p:spPr>
          <a:xfrm>
            <a:off x="7683500" y="2921000"/>
            <a:ext cx="2857500" cy="4388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호기심 많은 탐험가</a:t>
            </a:r>
          </a:p>
        </p:txBody>
      </p:sp>
      <p:pic>
        <p:nvPicPr>
          <p:cNvPr id="324" name="jelly_B_v5.png" descr="jelly_B_v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5000" y="2159000"/>
            <a:ext cx="1524000" cy="1524000"/>
          </a:xfrm>
          <a:prstGeom prst="rect">
            <a:avLst/>
          </a:prstGeom>
          <a:ln w="3175">
            <a:miter lim="400000"/>
          </a:ln>
        </p:spPr>
      </p:pic>
      <p:sp>
        <p:nvSpPr>
          <p:cNvPr id="325" name="방울"/>
          <p:cNvSpPr txBox="1"/>
          <p:nvPr/>
        </p:nvSpPr>
        <p:spPr>
          <a:xfrm>
            <a:off x="12636500" y="2260600"/>
            <a:ext cx="2857500" cy="502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30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방울</a:t>
            </a:r>
          </a:p>
        </p:txBody>
      </p:sp>
      <p:sp>
        <p:nvSpPr>
          <p:cNvPr id="326" name="수줍은 잠꾸러기"/>
          <p:cNvSpPr txBox="1"/>
          <p:nvPr/>
        </p:nvSpPr>
        <p:spPr>
          <a:xfrm>
            <a:off x="12636499" y="2921000"/>
            <a:ext cx="2857501" cy="4388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수줍은 잠꾸러기</a:t>
            </a:r>
          </a:p>
        </p:txBody>
      </p:sp>
      <p:pic>
        <p:nvPicPr>
          <p:cNvPr id="327" name="jelly_G_v4.png" descr="jelly_G_v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00" y="5016500"/>
            <a:ext cx="1524000" cy="1524000"/>
          </a:xfrm>
          <a:prstGeom prst="rect">
            <a:avLst/>
          </a:prstGeom>
          <a:ln w="3175">
            <a:miter lim="400000"/>
          </a:ln>
        </p:spPr>
      </p:pic>
      <p:sp>
        <p:nvSpPr>
          <p:cNvPr id="328" name="새롬"/>
          <p:cNvSpPr txBox="1"/>
          <p:nvPr/>
        </p:nvSpPr>
        <p:spPr>
          <a:xfrm>
            <a:off x="2730500" y="5118100"/>
            <a:ext cx="2857501" cy="502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30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새롬</a:t>
            </a:r>
          </a:p>
        </p:txBody>
      </p:sp>
      <p:sp>
        <p:nvSpPr>
          <p:cNvPr id="329" name="느긋한 정원사"/>
          <p:cNvSpPr txBox="1"/>
          <p:nvPr/>
        </p:nvSpPr>
        <p:spPr>
          <a:xfrm>
            <a:off x="2730499" y="5778500"/>
            <a:ext cx="2857501" cy="4388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느긋한 정원사</a:t>
            </a:r>
          </a:p>
        </p:txBody>
      </p:sp>
      <p:pic>
        <p:nvPicPr>
          <p:cNvPr id="330" name="jelly_P_v5.png" descr="jelly_P_v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2000" y="5016500"/>
            <a:ext cx="1524000" cy="1524000"/>
          </a:xfrm>
          <a:prstGeom prst="rect">
            <a:avLst/>
          </a:prstGeom>
          <a:ln w="3175">
            <a:miter lim="400000"/>
          </a:ln>
        </p:spPr>
      </p:pic>
      <p:sp>
        <p:nvSpPr>
          <p:cNvPr id="331" name="포포"/>
          <p:cNvSpPr txBox="1"/>
          <p:nvPr/>
        </p:nvSpPr>
        <p:spPr>
          <a:xfrm>
            <a:off x="7683500" y="5118100"/>
            <a:ext cx="2857500" cy="502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30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포포</a:t>
            </a:r>
          </a:p>
        </p:txBody>
      </p:sp>
      <p:sp>
        <p:nvSpPr>
          <p:cNvPr id="332" name="장난꾸러기 마술사"/>
          <p:cNvSpPr txBox="1"/>
          <p:nvPr/>
        </p:nvSpPr>
        <p:spPr>
          <a:xfrm>
            <a:off x="7683500" y="5778500"/>
            <a:ext cx="2857500" cy="4388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장난꾸러기 마술사</a:t>
            </a:r>
          </a:p>
        </p:txBody>
      </p:sp>
      <p:pic>
        <p:nvPicPr>
          <p:cNvPr id="333" name="jelly_O_v5.png" descr="jelly_O_v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95000" y="5016500"/>
            <a:ext cx="1524000" cy="1524000"/>
          </a:xfrm>
          <a:prstGeom prst="rect">
            <a:avLst/>
          </a:prstGeom>
          <a:ln w="3175">
            <a:miter lim="400000"/>
          </a:ln>
        </p:spPr>
      </p:pic>
      <p:sp>
        <p:nvSpPr>
          <p:cNvPr id="334" name="귤링"/>
          <p:cNvSpPr txBox="1"/>
          <p:nvPr/>
        </p:nvSpPr>
        <p:spPr>
          <a:xfrm>
            <a:off x="12636500" y="5118100"/>
            <a:ext cx="2857500" cy="5023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30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귤링</a:t>
            </a:r>
          </a:p>
        </p:txBody>
      </p:sp>
      <p:sp>
        <p:nvSpPr>
          <p:cNvPr id="335" name="활발한 요리사"/>
          <p:cNvSpPr txBox="1"/>
          <p:nvPr/>
        </p:nvSpPr>
        <p:spPr>
          <a:xfrm>
            <a:off x="12636499" y="5778500"/>
            <a:ext cx="2857501" cy="4388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활발한 요리사</a:t>
            </a:r>
          </a:p>
        </p:txBody>
      </p:sp>
      <p:sp>
        <p:nvSpPr>
          <p:cNvPr id="336" name="홈에서는 터치·인사·가구 반응과 추억을 남긴다.…"/>
          <p:cNvSpPr txBox="1"/>
          <p:nvPr/>
        </p:nvSpPr>
        <p:spPr>
          <a:xfrm>
            <a:off x="889000" y="7683500"/>
            <a:ext cx="14351000" cy="112592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24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홈에서는 터치·인사·가구 반응과 추억을 남긴다.</a:t>
            </a:r>
          </a:p>
          <a:p>
            <a:pPr>
              <a:defRPr sz="24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퍼즐에는 회피·잠깨우기·자리 교환·외로움의 성격 규칙을 섞는다.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성장과 친밀도가 모험을 돕는다"/>
          <p:cNvSpPr txBox="1"/>
          <p:nvPr/>
        </p:nvSpPr>
        <p:spPr>
          <a:xfrm>
            <a:off x="889000" y="698499"/>
            <a:ext cx="14351000" cy="69285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42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성장과 친밀도가 모험을 돕는다</a:t>
            </a:r>
          </a:p>
        </p:txBody>
      </p:sp>
      <p:sp>
        <p:nvSpPr>
          <p:cNvPr id="342" name="13"/>
          <p:cNvSpPr txBox="1"/>
          <p:nvPr/>
        </p:nvSpPr>
        <p:spPr>
          <a:xfrm>
            <a:off x="15367000" y="8610600"/>
            <a:ext cx="571500" cy="2864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500">
                <a:solidFill>
                  <a:srgbClr val="888393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13</a:t>
            </a:r>
          </a:p>
        </p:txBody>
      </p:sp>
      <p:pic>
        <p:nvPicPr>
          <p:cNvPr id="343" name="09_home_reaction.png" descr="09_home_re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904999"/>
            <a:ext cx="3621882" cy="6438901"/>
          </a:xfrm>
          <a:prstGeom prst="rect">
            <a:avLst/>
          </a:prstGeom>
          <a:ln w="3175">
            <a:miter lim="400000"/>
          </a:ln>
        </p:spPr>
      </p:pic>
      <p:sp>
        <p:nvSpPr>
          <p:cNvPr id="344" name="대표 성장 13단계"/>
          <p:cNvSpPr txBox="1"/>
          <p:nvPr/>
        </p:nvSpPr>
        <p:spPr>
          <a:xfrm>
            <a:off x="5143500" y="2032000"/>
            <a:ext cx="9969500" cy="489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9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대표 성장 13단계</a:t>
            </a:r>
          </a:p>
        </p:txBody>
      </p:sp>
      <p:sp>
        <p:nvSpPr>
          <p:cNvPr id="345" name="누적 별로 성장하며 최고 단계 기준은 900별이다.…"/>
          <p:cNvSpPr txBox="1"/>
          <p:nvPr/>
        </p:nvSpPr>
        <p:spPr>
          <a:xfrm>
            <a:off x="5143500" y="2667000"/>
            <a:ext cx="9969501" cy="1174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누적 별로 성장하며 최고 단계 기준은 900별이다.</a:t>
            </a:r>
          </a:p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크기와 오라, 배지로 변화를 보여 준다.</a:t>
            </a:r>
          </a:p>
        </p:txBody>
      </p:sp>
      <p:sp>
        <p:nvSpPr>
          <p:cNvPr id="346" name="주민 친밀도 10단계"/>
          <p:cNvSpPr txBox="1"/>
          <p:nvPr/>
        </p:nvSpPr>
        <p:spPr>
          <a:xfrm>
            <a:off x="5143500" y="4000500"/>
            <a:ext cx="9969501" cy="489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9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주민 친밀도 10단계</a:t>
            </a:r>
          </a:p>
        </p:txBody>
      </p:sp>
      <p:sp>
        <p:nvSpPr>
          <p:cNvPr id="347" name="터치·가구 반응·부탁으로 쌓는다.…"/>
          <p:cNvSpPr txBox="1"/>
          <p:nvPr/>
        </p:nvSpPr>
        <p:spPr>
          <a:xfrm>
            <a:off x="5143500" y="4635500"/>
            <a:ext cx="9969500" cy="1174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터치·가구 반응·부탁으로 쌓는다.</a:t>
            </a:r>
          </a:p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주민별 하루 획득 상한은 5, 최고 기준은 친밀도 150이다.</a:t>
            </a:r>
          </a:p>
        </p:txBody>
      </p:sp>
      <p:sp>
        <p:nvSpPr>
          <p:cNvPr id="348" name="캠페인 지원 효과"/>
          <p:cNvSpPr txBox="1"/>
          <p:nvPr/>
        </p:nvSpPr>
        <p:spPr>
          <a:xfrm>
            <a:off x="5143500" y="5969000"/>
            <a:ext cx="9969501" cy="489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9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캠페인 지원 효과</a:t>
            </a:r>
          </a:p>
        </p:txBody>
      </p:sp>
      <p:sp>
        <p:nvSpPr>
          <p:cNvPr id="349" name="친밀도에 따라 시작 시간 최대 +6초와 무료 힌트.…"/>
          <p:cNvSpPr txBox="1"/>
          <p:nvPr/>
        </p:nvSpPr>
        <p:spPr>
          <a:xfrm>
            <a:off x="5143500" y="6604000"/>
            <a:ext cx="9969500" cy="1174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친밀도에 따라 시작 시간 최대 +6초와 무료 힌트.</a:t>
            </a:r>
          </a:p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샤이니 확률은 기본 2%에서 최대 3.8%로 증가한다.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꾸미기와 수집 기록"/>
          <p:cNvSpPr txBox="1"/>
          <p:nvPr/>
        </p:nvSpPr>
        <p:spPr>
          <a:xfrm>
            <a:off x="889000" y="698499"/>
            <a:ext cx="14351000" cy="69285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42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꾸미기와 수집 기록</a:t>
            </a:r>
          </a:p>
        </p:txBody>
      </p:sp>
      <p:sp>
        <p:nvSpPr>
          <p:cNvPr id="355" name="14"/>
          <p:cNvSpPr txBox="1"/>
          <p:nvPr/>
        </p:nvSpPr>
        <p:spPr>
          <a:xfrm>
            <a:off x="15367000" y="8610600"/>
            <a:ext cx="571500" cy="2864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500">
                <a:solidFill>
                  <a:srgbClr val="888393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14</a:t>
            </a:r>
          </a:p>
        </p:txBody>
      </p:sp>
      <p:pic>
        <p:nvPicPr>
          <p:cNvPr id="356" name="21_room_edit.png" descr="21_room_e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905000"/>
            <a:ext cx="3364707" cy="5981700"/>
          </a:xfrm>
          <a:prstGeom prst="rect">
            <a:avLst/>
          </a:prstGeom>
          <a:ln w="3175">
            <a:miter lim="400000"/>
          </a:ln>
        </p:spPr>
      </p:pic>
      <p:pic>
        <p:nvPicPr>
          <p:cNvPr id="357" name="19_album_residents.png" descr="19_album_resid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500" y="1905000"/>
            <a:ext cx="3364707" cy="5981700"/>
          </a:xfrm>
          <a:prstGeom prst="rect">
            <a:avLst/>
          </a:prstGeom>
          <a:ln w="3175">
            <a:miter lim="400000"/>
          </a:ln>
        </p:spPr>
      </p:pic>
      <p:sp>
        <p:nvSpPr>
          <p:cNvPr id="358" name="가구 50종과 8×6 아지트"/>
          <p:cNvSpPr txBox="1"/>
          <p:nvPr/>
        </p:nvSpPr>
        <p:spPr>
          <a:xfrm>
            <a:off x="8635999" y="2095500"/>
            <a:ext cx="6667501" cy="489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9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가구 50종과 8×6 아지트</a:t>
            </a:r>
          </a:p>
        </p:txBody>
      </p:sp>
      <p:sp>
        <p:nvSpPr>
          <p:cNvPr id="359" name="시작 가구 4종을 제공한다.…"/>
          <p:cNvSpPr txBox="1"/>
          <p:nvPr/>
        </p:nvSpPr>
        <p:spPr>
          <a:xfrm>
            <a:off x="8636000" y="2730500"/>
            <a:ext cx="6667500" cy="1174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시작 가구 4종을 제공한다.</a:t>
            </a:r>
          </a:p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드래그·회전·회수 후 배치를 저장한다.</a:t>
            </a:r>
          </a:p>
        </p:txBody>
      </p:sp>
      <p:sp>
        <p:nvSpPr>
          <p:cNvPr id="360" name="주민 앨범과 젤리 도감"/>
          <p:cNvSpPr txBox="1"/>
          <p:nvPr/>
        </p:nvSpPr>
        <p:spPr>
          <a:xfrm>
            <a:off x="8636000" y="4064000"/>
            <a:ext cx="6667500" cy="489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9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주민 앨범과 젤리 도감</a:t>
            </a:r>
          </a:p>
        </p:txBody>
      </p:sp>
      <p:sp>
        <p:nvSpPr>
          <p:cNvPr id="361" name="친밀도, 최근 추억 30개, 배지 10개.…"/>
          <p:cNvSpPr txBox="1"/>
          <p:nvPr/>
        </p:nvSpPr>
        <p:spPr>
          <a:xfrm>
            <a:off x="8636000" y="4699000"/>
            <a:ext cx="6667500" cy="1174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친밀도, 최근 추억 30개, 배지 10개.</a:t>
            </a:r>
          </a:p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도감은 6색 발견·포획·샤이니를 기록한다.</a:t>
            </a:r>
          </a:p>
        </p:txBody>
      </p:sp>
      <p:sp>
        <p:nvSpPr>
          <p:cNvPr id="362" name="촬영과 방문 코드"/>
          <p:cNvSpPr txBox="1"/>
          <p:nvPr/>
        </p:nvSpPr>
        <p:spPr>
          <a:xfrm>
            <a:off x="8636000" y="6032500"/>
            <a:ext cx="6667500" cy="489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9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촬영과 방문 코드</a:t>
            </a:r>
          </a:p>
        </p:txBody>
      </p:sp>
      <p:sp>
        <p:nvSpPr>
          <p:cNvPr id="363" name="UI 없는 방 사진을 PNG로 저장한다.…"/>
          <p:cNvSpPr txBox="1"/>
          <p:nvPr/>
        </p:nvSpPr>
        <p:spPr>
          <a:xfrm>
            <a:off x="8635999" y="6667500"/>
            <a:ext cx="6667501" cy="1174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UI 없는 방 사진을 PNG로 저장한다.</a:t>
            </a:r>
          </a:p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방문 코드는 친구의 요약 정보를 보여 준다.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매일과 매주의 플레이 목표"/>
          <p:cNvSpPr txBox="1"/>
          <p:nvPr/>
        </p:nvSpPr>
        <p:spPr>
          <a:xfrm>
            <a:off x="889000" y="698499"/>
            <a:ext cx="14351000" cy="69285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42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매일과 매주의 플레이 목표</a:t>
            </a:r>
          </a:p>
        </p:txBody>
      </p:sp>
      <p:sp>
        <p:nvSpPr>
          <p:cNvPr id="369" name="15"/>
          <p:cNvSpPr txBox="1"/>
          <p:nvPr/>
        </p:nvSpPr>
        <p:spPr>
          <a:xfrm>
            <a:off x="15367000" y="8610600"/>
            <a:ext cx="571500" cy="2864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500">
                <a:solidFill>
                  <a:srgbClr val="888393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15</a:t>
            </a:r>
          </a:p>
        </p:txBody>
      </p:sp>
      <p:graphicFrame>
        <p:nvGraphicFramePr>
          <p:cNvPr id="370" name="표 1"/>
          <p:cNvGraphicFramePr/>
          <p:nvPr/>
        </p:nvGraphicFramePr>
        <p:xfrm>
          <a:off x="889000" y="2032000"/>
          <a:ext cx="4882445" cy="3669339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323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89000">
                <a:tc>
                  <a:txBody>
                    <a:bodyPr/>
                    <a:lstStyle/>
                    <a:p>
                      <a:pPr algn="l" defTabSz="914400">
                        <a:tabLst>
                          <a:tab pos="1104900" algn="l"/>
                        </a:tabLst>
                        <a:defRPr sz="1800" b="0"/>
                      </a:pPr>
                      <a:r>
                        <a:rPr sz="2300">
                          <a:solidFill>
                            <a:srgbClr val="FFFFFF"/>
                          </a:solidFill>
                          <a:latin typeface="Apple SD 산돌고딕 Neo 볼드체"/>
                          <a:ea typeface="Apple SD 산돌고딕 Neo 볼드체"/>
                          <a:cs typeface="Apple SD 산돌고딕 Neo 볼드체"/>
                          <a:sym typeface="Apple SD 산돌고딕 Neo 볼드체"/>
                        </a:rPr>
                        <a:t>콘텐츠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7B4DA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1104900" algn="l"/>
                        </a:tabLst>
                        <a:defRPr sz="1800" b="0"/>
                      </a:pPr>
                      <a:r>
                        <a:rPr sz="2300">
                          <a:solidFill>
                            <a:srgbClr val="FFFFFF"/>
                          </a:solidFill>
                          <a:latin typeface="Apple SD 산돌고딕 Neo 볼드체"/>
                          <a:ea typeface="Apple SD 산돌고딕 Neo 볼드체"/>
                          <a:cs typeface="Apple SD 산돌고딕 Neo 볼드체"/>
                          <a:sym typeface="Apple SD 산돌고딕 Neo 볼드체"/>
                        </a:rPr>
                        <a:t>목표 / 주기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7B4DA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1104900" algn="l"/>
                        </a:tabLst>
                        <a:defRPr sz="1800" b="0"/>
                      </a:pPr>
                      <a:r>
                        <a:rPr sz="2300">
                          <a:solidFill>
                            <a:srgbClr val="FFFFFF"/>
                          </a:solidFill>
                          <a:latin typeface="Apple SD 산돌고딕 Neo 볼드체"/>
                          <a:ea typeface="Apple SD 산돌고딕 Neo 볼드체"/>
                          <a:cs typeface="Apple SD 산돌고딕 Neo 볼드체"/>
                          <a:sym typeface="Apple SD 산돌고딕 Neo 볼드체"/>
                        </a:rPr>
                        <a:t>주요 보상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7B4D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3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출석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3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하루 1회, 누적 수령 방식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3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첫 7회 합계 별가루 310 + 하트 35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3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일일 미션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3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시작 3회, 성공 2회, 포획 20마리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3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전체 달성 시 별가루 15 + 하트 1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3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오늘의 특별 구조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3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날짜별 퍼즐, 하루 1회 완료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3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별가루 25 + 시간 1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3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주간 미션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3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시작 15회, 성공 10회, 포획 100마리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3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별가루 60 + 시간·나침반 각 1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3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5단계 주간 원정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3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단계별 퍼즐, 주간 진척 저장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3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완주 합계 별가루 120 + 부스터 3개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3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주민 부탁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3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일반 최대 2개, 프리미엄 최대 3개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3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친밀도와 시즌 XP, 주민 추억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71" name="특별 구조와 주간 원정은 행동력을 쓰지 않으며 원본 캠페인의 별·해금을 갱신하지 않는다."/>
          <p:cNvSpPr txBox="1"/>
          <p:nvPr/>
        </p:nvSpPr>
        <p:spPr>
          <a:xfrm>
            <a:off x="889000" y="8445500"/>
            <a:ext cx="14224000" cy="2991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700">
                <a:solidFill>
                  <a:srgbClr val="888393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특별 구조와 주간 원정은 행동력을 쓰지 않으며 원본 캠페인의 별·해금을 갱신하지 않는다.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시즌 생활과 마을 복구"/>
          <p:cNvSpPr txBox="1"/>
          <p:nvPr/>
        </p:nvSpPr>
        <p:spPr>
          <a:xfrm>
            <a:off x="889000" y="698499"/>
            <a:ext cx="14351000" cy="69285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42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시즌 생활과 마을 복구</a:t>
            </a:r>
          </a:p>
        </p:txBody>
      </p:sp>
      <p:sp>
        <p:nvSpPr>
          <p:cNvPr id="377" name="16"/>
          <p:cNvSpPr txBox="1"/>
          <p:nvPr/>
        </p:nvSpPr>
        <p:spPr>
          <a:xfrm>
            <a:off x="15367000" y="8610600"/>
            <a:ext cx="571500" cy="2864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500">
                <a:solidFill>
                  <a:srgbClr val="888393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16</a:t>
            </a:r>
          </a:p>
        </p:txBody>
      </p:sp>
      <p:pic>
        <p:nvPicPr>
          <p:cNvPr id="378" name="16_lifestyle_season.png" descr="16_lifestyle_sea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904999"/>
            <a:ext cx="3621882" cy="6438901"/>
          </a:xfrm>
          <a:prstGeom prst="rect">
            <a:avLst/>
          </a:prstGeom>
          <a:ln w="3175">
            <a:miter lim="400000"/>
          </a:ln>
        </p:spPr>
      </p:pic>
      <p:sp>
        <p:nvSpPr>
          <p:cNvPr id="379" name="28일 마음별 피크닉 시즌"/>
          <p:cNvSpPr txBox="1"/>
          <p:nvPr/>
        </p:nvSpPr>
        <p:spPr>
          <a:xfrm>
            <a:off x="5143500" y="2032000"/>
            <a:ext cx="9969500" cy="489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9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28일 마음별 피크닉 시즌</a:t>
            </a:r>
          </a:p>
        </p:txBody>
      </p:sp>
      <p:sp>
        <p:nvSpPr>
          <p:cNvPr id="380" name="20단계 무료·프리미엄 보상 트랙을 제공한다.…"/>
          <p:cNvSpPr txBox="1"/>
          <p:nvPr/>
        </p:nvSpPr>
        <p:spPr>
          <a:xfrm>
            <a:off x="5143500" y="2667000"/>
            <a:ext cx="9969500" cy="1174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20단계 무료·프리미엄 보상 트랙을 제공한다.</a:t>
            </a:r>
          </a:p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성공·부탁·특별 구조로 XP를 모아 한정 가구를 얻는다.</a:t>
            </a:r>
          </a:p>
        </p:txBody>
      </p:sp>
      <p:sp>
        <p:nvSpPr>
          <p:cNvPr id="381" name="누적 별 보상은 별도 트랙"/>
          <p:cNvSpPr txBox="1"/>
          <p:nvPr/>
        </p:nvSpPr>
        <p:spPr>
          <a:xfrm>
            <a:off x="5143500" y="4000500"/>
            <a:ext cx="9969500" cy="489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9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누적 별 보상은 별도 트랙</a:t>
            </a:r>
          </a:p>
        </p:txBody>
      </p:sp>
      <p:sp>
        <p:nvSpPr>
          <p:cNvPr id="382" name="XP 시즌과 영구 누적 별 보상을 따로 운영한다.…"/>
          <p:cNvSpPr txBox="1"/>
          <p:nvPr/>
        </p:nvSpPr>
        <p:spPr>
          <a:xfrm>
            <a:off x="5143499" y="4635500"/>
            <a:ext cx="9969501" cy="1174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XP 시즌과 영구 누적 별 보상을 따로 운영한다.</a:t>
            </a:r>
          </a:p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기간형 성취와 장기 성과를 함께 보여 준다.</a:t>
            </a:r>
          </a:p>
        </p:txBody>
      </p:sp>
      <p:sp>
        <p:nvSpPr>
          <p:cNvPr id="383" name="5개 지구, 총 15단계 복구"/>
          <p:cNvSpPr txBox="1"/>
          <p:nvPr/>
        </p:nvSpPr>
        <p:spPr>
          <a:xfrm>
            <a:off x="5143500" y="5969000"/>
            <a:ext cx="9969501" cy="489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9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5개 지구, 총 15단계 복구</a:t>
            </a:r>
          </a:p>
        </p:txBody>
      </p:sp>
      <p:sp>
        <p:nvSpPr>
          <p:cNvPr id="384" name="첫 클리어로 얻은 재료로 마을을 복구한다.…"/>
          <p:cNvSpPr txBox="1"/>
          <p:nvPr/>
        </p:nvSpPr>
        <p:spPr>
          <a:xfrm>
            <a:off x="5143500" y="6604000"/>
            <a:ext cx="9969500" cy="1174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첫 클리어로 얻은 재료로 마을을 복구한다.</a:t>
            </a:r>
          </a:p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복구 3단계마다 첫 클리어 별가루 +1, 최대 +5다.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상점과 상품 구성"/>
          <p:cNvSpPr txBox="1"/>
          <p:nvPr/>
        </p:nvSpPr>
        <p:spPr>
          <a:xfrm>
            <a:off x="889000" y="698499"/>
            <a:ext cx="14351001" cy="69285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42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상점과 상품 구성</a:t>
            </a:r>
          </a:p>
        </p:txBody>
      </p:sp>
      <p:sp>
        <p:nvSpPr>
          <p:cNvPr id="390" name="17"/>
          <p:cNvSpPr txBox="1"/>
          <p:nvPr/>
        </p:nvSpPr>
        <p:spPr>
          <a:xfrm>
            <a:off x="15367000" y="8610600"/>
            <a:ext cx="571500" cy="2864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500">
                <a:solidFill>
                  <a:srgbClr val="888393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17</a:t>
            </a:r>
          </a:p>
        </p:txBody>
      </p:sp>
      <p:graphicFrame>
        <p:nvGraphicFramePr>
          <p:cNvPr id="391" name="표 1"/>
          <p:cNvGraphicFramePr/>
          <p:nvPr/>
        </p:nvGraphicFramePr>
        <p:xfrm>
          <a:off x="889000" y="1879600"/>
          <a:ext cx="4882445" cy="3669339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0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4700">
                <a:tc>
                  <a:txBody>
                    <a:bodyPr/>
                    <a:lstStyle/>
                    <a:p>
                      <a:pPr algn="l" defTabSz="914400">
                        <a:tabLst>
                          <a:tab pos="1104900" algn="l"/>
                        </a:tabLst>
                        <a:defRPr sz="1800" b="0"/>
                      </a:pPr>
                      <a:r>
                        <a:rPr sz="2300">
                          <a:solidFill>
                            <a:srgbClr val="FFFFFF"/>
                          </a:solidFill>
                          <a:latin typeface="Apple SD 산돌고딕 Neo 볼드체"/>
                          <a:ea typeface="Apple SD 산돌고딕 Neo 볼드체"/>
                          <a:cs typeface="Apple SD 산돌고딕 Neo 볼드체"/>
                          <a:sym typeface="Apple SD 산돌고딕 Neo 볼드체"/>
                        </a:rPr>
                        <a:t>상품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7B4DA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1104900" algn="l"/>
                        </a:tabLst>
                        <a:defRPr sz="1800" b="0"/>
                      </a:pPr>
                      <a:r>
                        <a:rPr sz="2300">
                          <a:solidFill>
                            <a:srgbClr val="FFFFFF"/>
                          </a:solidFill>
                          <a:latin typeface="Apple SD 산돌고딕 Neo 볼드체"/>
                          <a:ea typeface="Apple SD 산돌고딕 Neo 볼드체"/>
                          <a:cs typeface="Apple SD 산돌고딕 Neo 볼드체"/>
                          <a:sym typeface="Apple SD 산돌고딕 Neo 볼드체"/>
                        </a:rPr>
                        <a:t>표시 가격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7B4DA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tabLst>
                          <a:tab pos="1104900" algn="l"/>
                        </a:tabLst>
                        <a:defRPr sz="1800" b="0"/>
                      </a:pPr>
                      <a:r>
                        <a:rPr sz="2300">
                          <a:solidFill>
                            <a:srgbClr val="FFFFFF"/>
                          </a:solidFill>
                          <a:latin typeface="Apple SD 산돌고딕 Neo 볼드체"/>
                          <a:ea typeface="Apple SD 산돌고딕 Neo 볼드체"/>
                          <a:cs typeface="Apple SD 산돌고딕 Neo 볼드체"/>
                          <a:sym typeface="Apple SD 산돌고딕 Neo 볼드체"/>
                        </a:rPr>
                        <a:t>주요 구성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7B4D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3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하트 5개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3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500원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3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행동력 5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3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별가루 50 / 110개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3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1,000 / 2,000원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3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이어하기·가구 구매 재화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3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새내기 구조대 팩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3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1,500원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3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별가루 120, 하트 10, 부스터 7, 가구 1종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3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챕터 돌파 팩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3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3,000원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3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별가루 220, 하트 15, 부스터 17, 가구 2종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3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VIP 구조대 패스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3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3,000원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3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일일 지원, 광고 일 1회 생략, 배지·명패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3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말랑 아지트 꾸미기 팩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3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4,500원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3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전용 가구 4종, 별가루 150, 하트 5, 부스터 6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3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마음별 피크닉 프리미엄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3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6,500원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2300">
                          <a:solidFill>
                            <a:srgbClr val="3D3A54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  <a:sym typeface="Apple SD 산돌고딕 Neo 일반체"/>
                        </a:rPr>
                        <a:t>현재 시즌 유료 보상과 추가 부탁 슬롯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92" name="현금 상품 8종의 데이터 가격이다. 현재는 디버그 지급이며 릴리스 결제 공급자는 미연결이다."/>
          <p:cNvSpPr txBox="1"/>
          <p:nvPr/>
        </p:nvSpPr>
        <p:spPr>
          <a:xfrm>
            <a:off x="889000" y="8445500"/>
            <a:ext cx="14224000" cy="2991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700">
                <a:solidFill>
                  <a:srgbClr val="888393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현금 상품 8종의 데이터 가격이다. 현재는 디버그 지급이며 릴리스 결제 공급자는 미연결이다.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선택형 광고와 VIP 혜택"/>
          <p:cNvSpPr txBox="1"/>
          <p:nvPr/>
        </p:nvSpPr>
        <p:spPr>
          <a:xfrm>
            <a:off x="889000" y="698499"/>
            <a:ext cx="14351000" cy="69285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42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선택형 광고와 VIP 혜택</a:t>
            </a:r>
          </a:p>
        </p:txBody>
      </p:sp>
      <p:sp>
        <p:nvSpPr>
          <p:cNvPr id="398" name="18"/>
          <p:cNvSpPr txBox="1"/>
          <p:nvPr/>
        </p:nvSpPr>
        <p:spPr>
          <a:xfrm>
            <a:off x="15367000" y="8610600"/>
            <a:ext cx="571500" cy="2864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500">
                <a:solidFill>
                  <a:srgbClr val="888393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18</a:t>
            </a:r>
          </a:p>
        </p:txBody>
      </p:sp>
      <p:pic>
        <p:nvPicPr>
          <p:cNvPr id="399" name="42_result_reward_claimed.png" descr="42_result_reward_clai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904999"/>
            <a:ext cx="3621882" cy="6438901"/>
          </a:xfrm>
          <a:prstGeom prst="rect">
            <a:avLst/>
          </a:prstGeom>
          <a:ln w="3175">
            <a:miter lim="400000"/>
          </a:ln>
        </p:spPr>
      </p:pic>
      <p:sp>
        <p:nvSpPr>
          <p:cNvPr id="400" name="캠페인 진행을 광고로 막지 않는다"/>
          <p:cNvSpPr txBox="1"/>
          <p:nvPr/>
        </p:nvSpPr>
        <p:spPr>
          <a:xfrm>
            <a:off x="5143500" y="2032000"/>
            <a:ext cx="9969501" cy="489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9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캠페인 진행을 광고로 막지 않는다</a:t>
            </a:r>
          </a:p>
        </p:txBody>
      </p:sp>
      <p:sp>
        <p:nvSpPr>
          <p:cNvPr id="401" name="앞선 판을 클리어하면 다음 판을 연다.…"/>
          <p:cNvSpPr txBox="1"/>
          <p:nvPr/>
        </p:nvSpPr>
        <p:spPr>
          <a:xfrm>
            <a:off x="5143500" y="2667000"/>
            <a:ext cx="9969500" cy="1174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앞선 판을 클리어하면 다음 판을 연다.</a:t>
            </a:r>
          </a:p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광고는 사용자가 선택하는 보상 위치에만 둔다.</a:t>
            </a:r>
          </a:p>
        </p:txBody>
      </p:sp>
      <p:sp>
        <p:nvSpPr>
          <p:cNvPr id="402" name="클리어 별가루 보상 2배"/>
          <p:cNvSpPr txBox="1"/>
          <p:nvPr/>
        </p:nvSpPr>
        <p:spPr>
          <a:xfrm>
            <a:off x="5143500" y="4000500"/>
            <a:ext cx="9969501" cy="489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9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클리어 별가루 보상 2배</a:t>
            </a:r>
          </a:p>
        </p:txBody>
      </p:sp>
      <p:sp>
        <p:nvSpPr>
          <p:cNvPr id="403" name="광고 완료 후 해당 결과 별가루를 한 번 더 지급한다.…"/>
          <p:cNvSpPr txBox="1"/>
          <p:nvPr/>
        </p:nvSpPr>
        <p:spPr>
          <a:xfrm>
            <a:off x="5143500" y="4635500"/>
            <a:ext cx="9969500" cy="1174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광고 완료 후 해당 결과 별가루를 한 번 더 지급한다.</a:t>
            </a:r>
          </a:p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중간 종료·실패에는 지급하지 않고 중복 수령을 막는다.</a:t>
            </a:r>
          </a:p>
        </p:txBody>
      </p:sp>
      <p:sp>
        <p:nvSpPr>
          <p:cNvPr id="404" name="VIP는 하루 지원과 일 1회 생략"/>
          <p:cNvSpPr txBox="1"/>
          <p:nvPr/>
        </p:nvSpPr>
        <p:spPr>
          <a:xfrm>
            <a:off x="5143500" y="5969000"/>
            <a:ext cx="9969500" cy="489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9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VIP는 하루 지원과 일 1회 생략</a:t>
            </a:r>
          </a:p>
        </p:txBody>
      </p:sp>
      <p:sp>
        <p:nvSpPr>
          <p:cNvPr id="405" name="매일 별가루 8 + 시간 부스터 1을 받는다.…"/>
          <p:cNvSpPr txBox="1"/>
          <p:nvPr/>
        </p:nvSpPr>
        <p:spPr>
          <a:xfrm>
            <a:off x="5143500" y="6604000"/>
            <a:ext cx="9969500" cy="1174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매일 별가루 8 + 시간 부스터 1을 받는다.</a:t>
            </a:r>
          </a:p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보상 광고 하루 1회 즉시 완료와 전용 명패를 제공한다.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화면 경험과 기술 기반"/>
          <p:cNvSpPr txBox="1"/>
          <p:nvPr/>
        </p:nvSpPr>
        <p:spPr>
          <a:xfrm>
            <a:off x="889000" y="698499"/>
            <a:ext cx="14351000" cy="69285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42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화면 경험과 기술 기반</a:t>
            </a:r>
          </a:p>
        </p:txBody>
      </p:sp>
      <p:sp>
        <p:nvSpPr>
          <p:cNvPr id="411" name="19"/>
          <p:cNvSpPr txBox="1"/>
          <p:nvPr/>
        </p:nvSpPr>
        <p:spPr>
          <a:xfrm>
            <a:off x="15367000" y="8610600"/>
            <a:ext cx="571500" cy="2864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500">
                <a:solidFill>
                  <a:srgbClr val="888393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19</a:t>
            </a:r>
          </a:p>
        </p:txBody>
      </p:sp>
      <p:pic>
        <p:nvPicPr>
          <p:cNvPr id="412" name="10_menu_settings_mail.png" descr="10_menu_settings_m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904999"/>
            <a:ext cx="3621882" cy="6438901"/>
          </a:xfrm>
          <a:prstGeom prst="rect">
            <a:avLst/>
          </a:prstGeom>
          <a:ln w="3175">
            <a:miter lim="400000"/>
          </a:ln>
        </p:spPr>
      </p:pic>
      <p:sp>
        <p:nvSpPr>
          <p:cNvPr id="413" name="터치와 세로 화면 중심"/>
          <p:cNvSpPr txBox="1"/>
          <p:nvPr/>
        </p:nvSpPr>
        <p:spPr>
          <a:xfrm>
            <a:off x="5143499" y="2032000"/>
            <a:ext cx="9969501" cy="489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9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터치와 세로 화면 중심</a:t>
            </a:r>
          </a:p>
        </p:txBody>
      </p:sp>
      <p:sp>
        <p:nvSpPr>
          <p:cNvPr id="414" name="720×1280 기준과 확장 여백 대응.…"/>
          <p:cNvSpPr txBox="1"/>
          <p:nvPr/>
        </p:nvSpPr>
        <p:spPr>
          <a:xfrm>
            <a:off x="5143500" y="2667000"/>
            <a:ext cx="9969500" cy="1174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720×1280 기준과 확장 여백 대응.</a:t>
            </a:r>
          </a:p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색상 기호, 흡수 효과, 진동으로 조작 결과를 알린다.</a:t>
            </a:r>
          </a:p>
        </p:txBody>
      </p:sp>
      <p:sp>
        <p:nvSpPr>
          <p:cNvPr id="415" name="8개 언어와 5개 BGM 테마"/>
          <p:cNvSpPr txBox="1"/>
          <p:nvPr/>
        </p:nvSpPr>
        <p:spPr>
          <a:xfrm>
            <a:off x="5143500" y="4000500"/>
            <a:ext cx="9969500" cy="489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9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8개 언어와 5개 BGM 테마</a:t>
            </a:r>
          </a:p>
        </p:txBody>
      </p:sp>
      <p:sp>
        <p:nvSpPr>
          <p:cNvPr id="416" name="시스템 언어 선택과 글꼴 보완을 지원한다.…"/>
          <p:cNvSpPr txBox="1"/>
          <p:nvPr/>
        </p:nvSpPr>
        <p:spPr>
          <a:xfrm>
            <a:off x="5143500" y="4635500"/>
            <a:ext cx="9969500" cy="1174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시스템 언어 선택과 글꼴 보완을 지원한다.</a:t>
            </a:r>
          </a:p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홈·퍼즐·보스 등의 신스 음악과 일시정지를 연결한다.</a:t>
            </a:r>
          </a:p>
        </p:txBody>
      </p:sp>
      <p:sp>
        <p:nvSpPr>
          <p:cNvPr id="417" name="로컬 저장과 분석 경계"/>
          <p:cNvSpPr txBox="1"/>
          <p:nvPr/>
        </p:nvSpPr>
        <p:spPr>
          <a:xfrm>
            <a:off x="5143499" y="5969000"/>
            <a:ext cx="9969501" cy="489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9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로컬 저장과 분석 경계</a:t>
            </a:r>
          </a:p>
        </p:txBody>
      </p:sp>
      <p:sp>
        <p:nvSpPr>
          <p:cNvPr id="418" name="진행·재화·주민·가구를 JSON으로 저장한다.…"/>
          <p:cNvSpPr txBox="1"/>
          <p:nvPr/>
        </p:nvSpPr>
        <p:spPr>
          <a:xfrm>
            <a:off x="5143500" y="6604000"/>
            <a:ext cx="9969500" cy="1174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진행·재화·주민·가구를 JSON으로 저장한다.</a:t>
            </a:r>
          </a:p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25개 분석 이벤트와 오프라인 업로드 큐를 구현했다.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현재 구현 상태와 남은 확인"/>
          <p:cNvSpPr txBox="1"/>
          <p:nvPr/>
        </p:nvSpPr>
        <p:spPr>
          <a:xfrm>
            <a:off x="889000" y="698499"/>
            <a:ext cx="14351000" cy="69285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42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현재 구현 상태와 남은 확인</a:t>
            </a:r>
          </a:p>
        </p:txBody>
      </p:sp>
      <p:sp>
        <p:nvSpPr>
          <p:cNvPr id="424" name="20"/>
          <p:cNvSpPr txBox="1"/>
          <p:nvPr/>
        </p:nvSpPr>
        <p:spPr>
          <a:xfrm>
            <a:off x="15367000" y="8610600"/>
            <a:ext cx="571500" cy="2864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1500">
                <a:solidFill>
                  <a:srgbClr val="888393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20</a:t>
            </a:r>
          </a:p>
        </p:txBody>
      </p:sp>
      <p:sp>
        <p:nvSpPr>
          <p:cNvPr id="425" name="로컬 게임과 생활 기능"/>
          <p:cNvSpPr txBox="1"/>
          <p:nvPr/>
        </p:nvSpPr>
        <p:spPr>
          <a:xfrm>
            <a:off x="889000" y="2222500"/>
            <a:ext cx="14351000" cy="489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9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로컬 게임과 생활 기능</a:t>
            </a:r>
          </a:p>
        </p:txBody>
      </p:sp>
      <p:sp>
        <p:nvSpPr>
          <p:cNvPr id="426" name="퍼즐, 보상, 주민 성장, 꾸미기, 반복 콘텐츠와 저장을 구현했다.…"/>
          <p:cNvSpPr txBox="1"/>
          <p:nvPr/>
        </p:nvSpPr>
        <p:spPr>
          <a:xfrm>
            <a:off x="889000" y="2857500"/>
            <a:ext cx="14351000" cy="1174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퍼즐, 보상, 주민 성장, 꾸미기, 반복 콘텐츠와 저장을 구현했다.</a:t>
            </a:r>
          </a:p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방문 코드는 요약 확인 수준이며 실제 친구 방 탐색은 제공하지 않는다.</a:t>
            </a:r>
          </a:p>
        </p:txBody>
      </p:sp>
      <p:sp>
        <p:nvSpPr>
          <p:cNvPr id="427" name="운영 연결이 필요한 기능"/>
          <p:cNvSpPr txBox="1"/>
          <p:nvPr/>
        </p:nvSpPr>
        <p:spPr>
          <a:xfrm>
            <a:off x="889000" y="4191000"/>
            <a:ext cx="14351000" cy="489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9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운영 연결이 필요한 기능</a:t>
            </a:r>
          </a:p>
        </p:txBody>
      </p:sp>
      <p:sp>
        <p:nvSpPr>
          <p:cNvPr id="428" name="현금 결제·영수증 검증·구매 복원, 온라인 랭킹·클라우드가 미완료다.…"/>
          <p:cNvSpPr txBox="1"/>
          <p:nvPr/>
        </p:nvSpPr>
        <p:spPr>
          <a:xfrm>
            <a:off x="889000" y="4826000"/>
            <a:ext cx="14351000" cy="1174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현금 결제·영수증 검증·구매 복원, 온라인 랭킹·클라우드가 미완료다.</a:t>
            </a:r>
          </a:p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HIVE 로그인·광고 브리지는 있으나 운영 검증이 필요하고 원격 분석은 비활성이다.</a:t>
            </a:r>
          </a:p>
        </p:txBody>
      </p:sp>
      <p:sp>
        <p:nvSpPr>
          <p:cNvPr id="429" name="출시 전 검토와 베타"/>
          <p:cNvSpPr txBox="1"/>
          <p:nvPr/>
        </p:nvSpPr>
        <p:spPr>
          <a:xfrm>
            <a:off x="889000" y="6159500"/>
            <a:ext cx="14351000" cy="48965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>
            <a:lvl1pPr>
              <a:defRPr sz="2900">
                <a:solidFill>
                  <a:srgbClr val="7B4DA0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출시 전 검토와 베타</a:t>
            </a:r>
          </a:p>
        </p:txBody>
      </p:sp>
      <p:sp>
        <p:nvSpPr>
          <p:cNvPr id="430" name="시즌 프리미엄 1단계 수령 UI, 부탁 ID 중복, 실패별 이어하기를 점검한다.…"/>
          <p:cNvSpPr txBox="1"/>
          <p:nvPr/>
        </p:nvSpPr>
        <p:spPr>
          <a:xfrm>
            <a:off x="889000" y="6794500"/>
            <a:ext cx="14351000" cy="11741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7" tIns="22577" rIns="22577" bIns="22577" anchor="ctr">
            <a:spAutoFit/>
          </a:bodyPr>
          <a:lstStyle/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시즌 프리미엄 1단계 수령 UI, 부탁 ID 중복, 실패별 이어하기를 점검한다.</a:t>
            </a:r>
          </a:p>
          <a:p>
            <a:pPr>
              <a:defRPr sz="2500">
                <a:solidFill>
                  <a:srgbClr val="3D3A5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신규 사용자 30~100명 베타로 재미·애착·재방문을 확인한다.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2577" tIns="22577" rIns="22577" bIns="22577" numCol="1" spcCol="38100" rtlCol="0" anchor="ctr">
        <a:spAutoFit/>
      </a:bodyPr>
      <a:lstStyle>
        <a:defPPr marL="0" marR="0" indent="0" algn="ctr" defTabSz="550333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175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2577" tIns="22577" rIns="22577" bIns="22577" numCol="1" spcCol="38100" rtlCol="0" anchor="ctr">
        <a:spAutoFit/>
      </a:bodyPr>
      <a:lstStyle>
        <a:defPPr marL="0" marR="0" indent="0" algn="l" defTabSz="1625559" rtl="0" fontAlgn="auto" latinLnBrk="0" hangingPunct="0">
          <a:lnSpc>
            <a:spcPct val="90000"/>
          </a:lnSpc>
          <a:spcBef>
            <a:spcPts val="300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2577" tIns="22577" rIns="22577" bIns="22577" numCol="1" spcCol="38100" rtlCol="0" anchor="ctr">
        <a:spAutoFit/>
      </a:bodyPr>
      <a:lstStyle>
        <a:defPPr marL="0" marR="0" indent="0" algn="ctr" defTabSz="550333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175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2577" tIns="22577" rIns="22577" bIns="22577" numCol="1" spcCol="38100" rtlCol="0" anchor="ctr">
        <a:spAutoFit/>
      </a:bodyPr>
      <a:lstStyle>
        <a:defPPr marL="0" marR="0" indent="0" algn="l" defTabSz="1625559" rtl="0" fontAlgn="auto" latinLnBrk="0" hangingPunct="0">
          <a:lnSpc>
            <a:spcPct val="90000"/>
          </a:lnSpc>
          <a:spcBef>
            <a:spcPts val="300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2561</Words>
  <Application>Microsoft Macintosh PowerPoint</Application>
  <PresentationFormat>사용자 지정</PresentationFormat>
  <Paragraphs>301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Apple SD 산돌고딕 Neo 볼드체</vt:lpstr>
      <vt:lpstr>Apple SD 산돌고딕 Neo 일반체</vt:lpstr>
      <vt:lpstr>Helvetica Neue</vt:lpstr>
      <vt:lpstr>Helvetica Neue Medium</vt:lpstr>
      <vt:lpstr>21_BasicWhite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com2usholdings291</cp:lastModifiedBy>
  <cp:revision>1</cp:revision>
  <dcterms:modified xsi:type="dcterms:W3CDTF">2026-09-08T03:27:49Z</dcterms:modified>
</cp:coreProperties>
</file>